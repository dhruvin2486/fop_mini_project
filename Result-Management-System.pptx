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6"/>
  </p:notes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PT Sans Bold" charset="1" panose="020B0703020203020204"/>
      <p:regular r:id="rId19"/>
    </p:embeddedFont>
    <p:embeddedFont>
      <p:font typeface="Open Sans" charset="1" panose="00000000000000000000"/>
      <p:regular r:id="rId20"/>
    </p:embeddedFont>
    <p:embeddedFont>
      <p:font typeface="Arimo" charset="1" panose="020B0604020202020204"/>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notesMasters/notesMaster1.xml" Type="http://schemas.openxmlformats.org/officeDocument/2006/relationships/notesMaster"/><Relationship Id="rId17" Target="theme/theme2.xml" Type="http://schemas.openxmlformats.org/officeDocument/2006/relationships/theme"/><Relationship Id="rId18" Target="notesSlides/notesSlide1.xml" Type="http://schemas.openxmlformats.org/officeDocument/2006/relationships/note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notesSlides/notesSlide2.xml" Type="http://schemas.openxmlformats.org/officeDocument/2006/relationships/notesSlide"/><Relationship Id="rId22" Target="notesSlides/notesSlide3.xml" Type="http://schemas.openxmlformats.org/officeDocument/2006/relationships/notesSlide"/><Relationship Id="rId23" Target="notesSlides/notesSlide4.xml" Type="http://schemas.openxmlformats.org/officeDocument/2006/relationships/notesSlide"/><Relationship Id="rId24" Target="notesSlides/notesSlide5.xml" Type="http://schemas.openxmlformats.org/officeDocument/2006/relationships/notesSlide"/><Relationship Id="rId25" Target="notesSlides/notesSlide6.xml" Type="http://schemas.openxmlformats.org/officeDocument/2006/relationships/notesSlide"/><Relationship Id="rId26" Target="notesSlides/notesSlide7.xml" Type="http://schemas.openxmlformats.org/officeDocument/2006/relationships/notesSlide"/><Relationship Id="rId27" Target="notesSlides/notesSlide8.xml" Type="http://schemas.openxmlformats.org/officeDocument/2006/relationships/notesSlide"/><Relationship Id="rId28" Target="notesSlides/notesSlide9.xml" Type="http://schemas.openxmlformats.org/officeDocument/2006/relationships/notesSlide"/><Relationship Id="rId29" Target="fonts/font29.fntdata" Type="http://schemas.openxmlformats.org/officeDocument/2006/relationships/font"/><Relationship Id="rId3" Target="viewProps.xml" Type="http://schemas.openxmlformats.org/officeDocument/2006/relationships/viewProps"/><Relationship Id="rId30" Target="notesSlides/notesSlide10.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0.png" Type="http://schemas.openxmlformats.org/officeDocument/2006/relationships/image"/><Relationship Id="rId4" Target="../media/image1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2.png" Type="http://schemas.openxmlformats.org/officeDocument/2006/relationships/image"/><Relationship Id="rId4" Target="../media/image1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5.pn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 Id="rId6" Target="../media/image18.png" Type="http://schemas.openxmlformats.org/officeDocument/2006/relationships/image"/><Relationship Id="rId7" Target="../media/image19.svg" Type="http://schemas.openxmlformats.org/officeDocument/2006/relationships/image"/><Relationship Id="rId8" Target="../media/image20.png" Type="http://schemas.openxmlformats.org/officeDocument/2006/relationships/image"/><Relationship Id="rId9" Target="../media/image21.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22.png" Type="http://schemas.openxmlformats.org/officeDocument/2006/relationships/image"/><Relationship Id="rId4" Target="../media/image23.png" Type="http://schemas.openxmlformats.org/officeDocument/2006/relationships/image"/><Relationship Id="rId5" Target="../media/image24.png" Type="http://schemas.openxmlformats.org/officeDocument/2006/relationships/image"/><Relationship Id="rId6" Target="../media/image25.png" Type="http://schemas.openxmlformats.org/officeDocument/2006/relationships/image"/><Relationship Id="rId7" Target="../media/image26.png" Type="http://schemas.openxmlformats.org/officeDocument/2006/relationships/image"/><Relationship Id="rId8" Target="../media/image2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https://gamma.app/?utm_source=made-with-gamma" TargetMode="External" Type="http://schemas.openxmlformats.org/officeDocument/2006/relationships/hyperlink"/><Relationship Id="rId4" Target="../media/image28.png" Type="http://schemas.openxmlformats.org/officeDocument/2006/relationships/image"/><Relationship Id="rId5" Target="../media/image29.png" Type="http://schemas.openxmlformats.org/officeDocument/2006/relationships/image"/></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6E6E6"/>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992238" y="2789482"/>
            <a:ext cx="7088238" cy="914552"/>
          </a:xfrm>
          <a:prstGeom prst="rect">
            <a:avLst/>
          </a:prstGeom>
        </p:spPr>
        <p:txBody>
          <a:bodyPr anchor="t" rtlCol="false" tIns="0" lIns="0" bIns="0" rIns="0">
            <a:spAutoFit/>
          </a:bodyPr>
          <a:lstStyle/>
          <a:p>
            <a:pPr algn="l">
              <a:lnSpc>
                <a:spcPts val="6937"/>
              </a:lnSpc>
            </a:pPr>
            <a:r>
              <a:rPr lang="en-US" sz="5562" b="true">
                <a:solidFill>
                  <a:srgbClr val="EF6C00"/>
                </a:solidFill>
                <a:latin typeface="PT Sans Bold"/>
                <a:ea typeface="PT Sans Bold"/>
                <a:cs typeface="PT Sans Bold"/>
                <a:sym typeface="PT Sans Bold"/>
              </a:rPr>
              <a:t>Result Management System</a:t>
            </a:r>
          </a:p>
        </p:txBody>
      </p:sp>
      <p:sp>
        <p:nvSpPr>
          <p:cNvPr name="TextBox 7" id="7"/>
          <p:cNvSpPr txBox="true"/>
          <p:nvPr/>
        </p:nvSpPr>
        <p:spPr>
          <a:xfrm rot="0">
            <a:off x="992238" y="4185342"/>
            <a:ext cx="16303523" cy="539353"/>
          </a:xfrm>
          <a:prstGeom prst="rect">
            <a:avLst/>
          </a:prstGeom>
        </p:spPr>
        <p:txBody>
          <a:bodyPr anchor="t" rtlCol="false" tIns="0" lIns="0" bIns="0" rIns="0">
            <a:spAutoFit/>
          </a:bodyPr>
          <a:lstStyle/>
          <a:p>
            <a:pPr algn="l">
              <a:lnSpc>
                <a:spcPts val="3562"/>
              </a:lnSpc>
            </a:pPr>
            <a:r>
              <a:rPr lang="en-US" sz="2187">
                <a:solidFill>
                  <a:srgbClr val="695D46"/>
                </a:solidFill>
                <a:latin typeface="Open Sans"/>
                <a:ea typeface="Open Sans"/>
                <a:cs typeface="Open Sans"/>
                <a:sym typeface="Open Sans"/>
              </a:rPr>
              <a:t>Mini project for Foundations of Programming (2025–26). Batch/Group: [E2-4]. Team:</a:t>
            </a:r>
          </a:p>
        </p:txBody>
      </p:sp>
      <p:grpSp>
        <p:nvGrpSpPr>
          <p:cNvPr name="Group 8" id="8"/>
          <p:cNvGrpSpPr/>
          <p:nvPr/>
        </p:nvGrpSpPr>
        <p:grpSpPr>
          <a:xfrm rot="0">
            <a:off x="987476" y="5038877"/>
            <a:ext cx="8019459" cy="1662265"/>
            <a:chOff x="0" y="0"/>
            <a:chExt cx="10692613" cy="2216353"/>
          </a:xfrm>
        </p:grpSpPr>
        <p:sp>
          <p:nvSpPr>
            <p:cNvPr name="Freeform 9" id="9"/>
            <p:cNvSpPr/>
            <p:nvPr/>
          </p:nvSpPr>
          <p:spPr>
            <a:xfrm flipH="false" flipV="false" rot="0">
              <a:off x="6350" y="6350"/>
              <a:ext cx="10679938" cy="2203577"/>
            </a:xfrm>
            <a:custGeom>
              <a:avLst/>
              <a:gdLst/>
              <a:ahLst/>
              <a:cxnLst/>
              <a:rect r="r" b="b" t="t" l="l"/>
              <a:pathLst>
                <a:path h="2203577" w="10679938">
                  <a:moveTo>
                    <a:pt x="0" y="158750"/>
                  </a:moveTo>
                  <a:cubicBezTo>
                    <a:pt x="0" y="71120"/>
                    <a:pt x="71374" y="0"/>
                    <a:pt x="159512" y="0"/>
                  </a:cubicBezTo>
                  <a:lnTo>
                    <a:pt x="10520426" y="0"/>
                  </a:lnTo>
                  <a:cubicBezTo>
                    <a:pt x="10608564" y="0"/>
                    <a:pt x="10679938" y="71120"/>
                    <a:pt x="10679938" y="158750"/>
                  </a:cubicBezTo>
                  <a:lnTo>
                    <a:pt x="10679938" y="2044827"/>
                  </a:lnTo>
                  <a:cubicBezTo>
                    <a:pt x="10679938" y="2132457"/>
                    <a:pt x="10608564" y="2203577"/>
                    <a:pt x="10520426" y="2203577"/>
                  </a:cubicBezTo>
                  <a:lnTo>
                    <a:pt x="159512" y="2203577"/>
                  </a:lnTo>
                  <a:cubicBezTo>
                    <a:pt x="71374" y="2203577"/>
                    <a:pt x="0" y="2132457"/>
                    <a:pt x="0" y="2044827"/>
                  </a:cubicBezTo>
                  <a:close/>
                </a:path>
              </a:pathLst>
            </a:custGeom>
            <a:solidFill>
              <a:srgbClr val="DBF0EE"/>
            </a:solidFill>
          </p:spPr>
        </p:sp>
        <p:sp>
          <p:nvSpPr>
            <p:cNvPr name="Freeform 10" id="10"/>
            <p:cNvSpPr/>
            <p:nvPr/>
          </p:nvSpPr>
          <p:spPr>
            <a:xfrm flipH="false" flipV="false" rot="0">
              <a:off x="0" y="0"/>
              <a:ext cx="10692638" cy="2216277"/>
            </a:xfrm>
            <a:custGeom>
              <a:avLst/>
              <a:gdLst/>
              <a:ahLst/>
              <a:cxnLst/>
              <a:rect r="r" b="b" t="t" l="l"/>
              <a:pathLst>
                <a:path h="2216277" w="10692638">
                  <a:moveTo>
                    <a:pt x="0" y="165100"/>
                  </a:moveTo>
                  <a:cubicBezTo>
                    <a:pt x="0" y="73914"/>
                    <a:pt x="74295" y="0"/>
                    <a:pt x="165862" y="0"/>
                  </a:cubicBezTo>
                  <a:lnTo>
                    <a:pt x="10526776" y="0"/>
                  </a:lnTo>
                  <a:lnTo>
                    <a:pt x="10526776" y="6350"/>
                  </a:lnTo>
                  <a:lnTo>
                    <a:pt x="10526776" y="0"/>
                  </a:lnTo>
                  <a:cubicBezTo>
                    <a:pt x="10618343" y="0"/>
                    <a:pt x="10692638" y="73914"/>
                    <a:pt x="10692638" y="165100"/>
                  </a:cubicBezTo>
                  <a:lnTo>
                    <a:pt x="10686288" y="165100"/>
                  </a:lnTo>
                  <a:lnTo>
                    <a:pt x="10692638" y="165100"/>
                  </a:lnTo>
                  <a:lnTo>
                    <a:pt x="10692638" y="2051177"/>
                  </a:lnTo>
                  <a:lnTo>
                    <a:pt x="10686288" y="2051177"/>
                  </a:lnTo>
                  <a:lnTo>
                    <a:pt x="10692638" y="2051177"/>
                  </a:lnTo>
                  <a:cubicBezTo>
                    <a:pt x="10692638" y="2142363"/>
                    <a:pt x="10618343" y="2216277"/>
                    <a:pt x="10526776" y="2216277"/>
                  </a:cubicBezTo>
                  <a:lnTo>
                    <a:pt x="10526776" y="2209927"/>
                  </a:lnTo>
                  <a:lnTo>
                    <a:pt x="10526776" y="2216277"/>
                  </a:lnTo>
                  <a:lnTo>
                    <a:pt x="165862" y="2216277"/>
                  </a:lnTo>
                  <a:lnTo>
                    <a:pt x="165862" y="2209927"/>
                  </a:lnTo>
                  <a:lnTo>
                    <a:pt x="165862" y="2216277"/>
                  </a:lnTo>
                  <a:cubicBezTo>
                    <a:pt x="74295" y="2216277"/>
                    <a:pt x="0" y="2142363"/>
                    <a:pt x="0" y="2051177"/>
                  </a:cubicBezTo>
                  <a:lnTo>
                    <a:pt x="0" y="165100"/>
                  </a:lnTo>
                  <a:lnTo>
                    <a:pt x="6350" y="165100"/>
                  </a:lnTo>
                  <a:lnTo>
                    <a:pt x="0" y="165100"/>
                  </a:lnTo>
                  <a:moveTo>
                    <a:pt x="12700" y="165100"/>
                  </a:moveTo>
                  <a:lnTo>
                    <a:pt x="12700" y="2051177"/>
                  </a:lnTo>
                  <a:lnTo>
                    <a:pt x="6350" y="2051177"/>
                  </a:lnTo>
                  <a:lnTo>
                    <a:pt x="12700" y="2051177"/>
                  </a:lnTo>
                  <a:cubicBezTo>
                    <a:pt x="12700" y="2135378"/>
                    <a:pt x="81280" y="2203577"/>
                    <a:pt x="165862" y="2203577"/>
                  </a:cubicBezTo>
                  <a:lnTo>
                    <a:pt x="10526776" y="2203577"/>
                  </a:lnTo>
                  <a:cubicBezTo>
                    <a:pt x="10611358" y="2203577"/>
                    <a:pt x="10679938" y="2135251"/>
                    <a:pt x="10679938" y="2051177"/>
                  </a:cubicBezTo>
                  <a:lnTo>
                    <a:pt x="10679938" y="165100"/>
                  </a:lnTo>
                  <a:cubicBezTo>
                    <a:pt x="10679938" y="80899"/>
                    <a:pt x="10611358" y="12700"/>
                    <a:pt x="10526776" y="12700"/>
                  </a:cubicBezTo>
                  <a:lnTo>
                    <a:pt x="165862" y="12700"/>
                  </a:lnTo>
                  <a:lnTo>
                    <a:pt x="165862" y="6350"/>
                  </a:lnTo>
                  <a:lnTo>
                    <a:pt x="165862" y="12700"/>
                  </a:lnTo>
                  <a:cubicBezTo>
                    <a:pt x="81280" y="12700"/>
                    <a:pt x="12700" y="81026"/>
                    <a:pt x="12700" y="165100"/>
                  </a:cubicBezTo>
                  <a:close/>
                </a:path>
              </a:pathLst>
            </a:custGeom>
            <a:solidFill>
              <a:srgbClr val="C1D6D4"/>
            </a:solidFill>
          </p:spPr>
        </p:sp>
      </p:grpSp>
      <p:sp>
        <p:nvSpPr>
          <p:cNvPr name="TextBox 11" id="11"/>
          <p:cNvSpPr txBox="true"/>
          <p:nvPr/>
        </p:nvSpPr>
        <p:spPr>
          <a:xfrm rot="0">
            <a:off x="1285284" y="5317627"/>
            <a:ext cx="3544043" cy="461962"/>
          </a:xfrm>
          <a:prstGeom prst="rect">
            <a:avLst/>
          </a:prstGeom>
        </p:spPr>
        <p:txBody>
          <a:bodyPr anchor="t" rtlCol="false" tIns="0" lIns="0" bIns="0" rIns="0">
            <a:spAutoFit/>
          </a:bodyPr>
          <a:lstStyle/>
          <a:p>
            <a:pPr algn="l">
              <a:lnSpc>
                <a:spcPts val="3437"/>
              </a:lnSpc>
            </a:pPr>
            <a:r>
              <a:rPr lang="en-US" sz="2750" b="true">
                <a:solidFill>
                  <a:srgbClr val="695D46"/>
                </a:solidFill>
                <a:latin typeface="PT Sans Bold"/>
                <a:ea typeface="PT Sans Bold"/>
                <a:cs typeface="PT Sans Bold"/>
                <a:sym typeface="PT Sans Bold"/>
              </a:rPr>
              <a:t>Parth Kale</a:t>
            </a:r>
          </a:p>
        </p:txBody>
      </p:sp>
      <p:sp>
        <p:nvSpPr>
          <p:cNvPr name="TextBox 12" id="12"/>
          <p:cNvSpPr txBox="true"/>
          <p:nvPr/>
        </p:nvSpPr>
        <p:spPr>
          <a:xfrm rot="0">
            <a:off x="1285284" y="5863981"/>
            <a:ext cx="7423842" cy="539353"/>
          </a:xfrm>
          <a:prstGeom prst="rect">
            <a:avLst/>
          </a:prstGeom>
        </p:spPr>
        <p:txBody>
          <a:bodyPr anchor="t" rtlCol="false" tIns="0" lIns="0" bIns="0" rIns="0">
            <a:spAutoFit/>
          </a:bodyPr>
          <a:lstStyle/>
          <a:p>
            <a:pPr algn="l">
              <a:lnSpc>
                <a:spcPts val="3562"/>
              </a:lnSpc>
            </a:pPr>
            <a:r>
              <a:rPr lang="en-US" sz="2187">
                <a:solidFill>
                  <a:srgbClr val="695D46"/>
                </a:solidFill>
                <a:latin typeface="Open Sans"/>
                <a:ea typeface="Open Sans"/>
                <a:cs typeface="Open Sans"/>
                <a:sym typeface="Open Sans"/>
              </a:rPr>
              <a:t>1262251718</a:t>
            </a:r>
          </a:p>
        </p:txBody>
      </p:sp>
      <p:grpSp>
        <p:nvGrpSpPr>
          <p:cNvPr name="Group 13" id="13"/>
          <p:cNvGrpSpPr/>
          <p:nvPr/>
        </p:nvGrpSpPr>
        <p:grpSpPr>
          <a:xfrm rot="0">
            <a:off x="9280922" y="5038877"/>
            <a:ext cx="8019602" cy="1662265"/>
            <a:chOff x="0" y="0"/>
            <a:chExt cx="10692803" cy="2216353"/>
          </a:xfrm>
        </p:grpSpPr>
        <p:sp>
          <p:nvSpPr>
            <p:cNvPr name="Freeform 14" id="14"/>
            <p:cNvSpPr/>
            <p:nvPr/>
          </p:nvSpPr>
          <p:spPr>
            <a:xfrm flipH="false" flipV="false" rot="0">
              <a:off x="6350" y="6350"/>
              <a:ext cx="10680065" cy="2203577"/>
            </a:xfrm>
            <a:custGeom>
              <a:avLst/>
              <a:gdLst/>
              <a:ahLst/>
              <a:cxnLst/>
              <a:rect r="r" b="b" t="t" l="l"/>
              <a:pathLst>
                <a:path h="2203577" w="10680065">
                  <a:moveTo>
                    <a:pt x="0" y="158750"/>
                  </a:moveTo>
                  <a:cubicBezTo>
                    <a:pt x="0" y="71120"/>
                    <a:pt x="71374" y="0"/>
                    <a:pt x="159512" y="0"/>
                  </a:cubicBezTo>
                  <a:lnTo>
                    <a:pt x="10520553" y="0"/>
                  </a:lnTo>
                  <a:cubicBezTo>
                    <a:pt x="10608691" y="0"/>
                    <a:pt x="10680065" y="71120"/>
                    <a:pt x="10680065" y="158750"/>
                  </a:cubicBezTo>
                  <a:lnTo>
                    <a:pt x="10680065" y="2044827"/>
                  </a:lnTo>
                  <a:cubicBezTo>
                    <a:pt x="10680065" y="2132457"/>
                    <a:pt x="10608691" y="2203577"/>
                    <a:pt x="10520553" y="2203577"/>
                  </a:cubicBezTo>
                  <a:lnTo>
                    <a:pt x="159512" y="2203577"/>
                  </a:lnTo>
                  <a:cubicBezTo>
                    <a:pt x="71374" y="2203577"/>
                    <a:pt x="0" y="2132457"/>
                    <a:pt x="0" y="2044827"/>
                  </a:cubicBezTo>
                  <a:close/>
                </a:path>
              </a:pathLst>
            </a:custGeom>
            <a:solidFill>
              <a:srgbClr val="DBF0EE"/>
            </a:solidFill>
          </p:spPr>
        </p:sp>
        <p:sp>
          <p:nvSpPr>
            <p:cNvPr name="Freeform 15" id="15"/>
            <p:cNvSpPr/>
            <p:nvPr/>
          </p:nvSpPr>
          <p:spPr>
            <a:xfrm flipH="false" flipV="false" rot="0">
              <a:off x="0" y="0"/>
              <a:ext cx="10692765" cy="2216277"/>
            </a:xfrm>
            <a:custGeom>
              <a:avLst/>
              <a:gdLst/>
              <a:ahLst/>
              <a:cxnLst/>
              <a:rect r="r" b="b" t="t" l="l"/>
              <a:pathLst>
                <a:path h="2216277" w="10692765">
                  <a:moveTo>
                    <a:pt x="0" y="165100"/>
                  </a:moveTo>
                  <a:cubicBezTo>
                    <a:pt x="0" y="73914"/>
                    <a:pt x="74295" y="0"/>
                    <a:pt x="165862" y="0"/>
                  </a:cubicBezTo>
                  <a:lnTo>
                    <a:pt x="10526903" y="0"/>
                  </a:lnTo>
                  <a:lnTo>
                    <a:pt x="10526903" y="6350"/>
                  </a:lnTo>
                  <a:lnTo>
                    <a:pt x="10526903" y="0"/>
                  </a:lnTo>
                  <a:cubicBezTo>
                    <a:pt x="10618470" y="0"/>
                    <a:pt x="10692765" y="73914"/>
                    <a:pt x="10692765" y="165100"/>
                  </a:cubicBezTo>
                  <a:lnTo>
                    <a:pt x="10686415" y="165100"/>
                  </a:lnTo>
                  <a:lnTo>
                    <a:pt x="10692765" y="165100"/>
                  </a:lnTo>
                  <a:lnTo>
                    <a:pt x="10692765" y="2051177"/>
                  </a:lnTo>
                  <a:lnTo>
                    <a:pt x="10686415" y="2051177"/>
                  </a:lnTo>
                  <a:lnTo>
                    <a:pt x="10692765" y="2051177"/>
                  </a:lnTo>
                  <a:cubicBezTo>
                    <a:pt x="10692765" y="2142363"/>
                    <a:pt x="10618470" y="2216277"/>
                    <a:pt x="10526903" y="2216277"/>
                  </a:cubicBezTo>
                  <a:lnTo>
                    <a:pt x="10526903" y="2209927"/>
                  </a:lnTo>
                  <a:lnTo>
                    <a:pt x="10526903" y="2216277"/>
                  </a:lnTo>
                  <a:lnTo>
                    <a:pt x="165862" y="2216277"/>
                  </a:lnTo>
                  <a:lnTo>
                    <a:pt x="165862" y="2209927"/>
                  </a:lnTo>
                  <a:lnTo>
                    <a:pt x="165862" y="2216277"/>
                  </a:lnTo>
                  <a:cubicBezTo>
                    <a:pt x="74295" y="2216277"/>
                    <a:pt x="0" y="2142363"/>
                    <a:pt x="0" y="2051177"/>
                  </a:cubicBezTo>
                  <a:lnTo>
                    <a:pt x="0" y="165100"/>
                  </a:lnTo>
                  <a:lnTo>
                    <a:pt x="6350" y="165100"/>
                  </a:lnTo>
                  <a:lnTo>
                    <a:pt x="0" y="165100"/>
                  </a:lnTo>
                  <a:moveTo>
                    <a:pt x="12700" y="165100"/>
                  </a:moveTo>
                  <a:lnTo>
                    <a:pt x="12700" y="2051177"/>
                  </a:lnTo>
                  <a:lnTo>
                    <a:pt x="6350" y="2051177"/>
                  </a:lnTo>
                  <a:lnTo>
                    <a:pt x="12700" y="2051177"/>
                  </a:lnTo>
                  <a:cubicBezTo>
                    <a:pt x="12700" y="2135378"/>
                    <a:pt x="81280" y="2203577"/>
                    <a:pt x="165862" y="2203577"/>
                  </a:cubicBezTo>
                  <a:lnTo>
                    <a:pt x="10526903" y="2203577"/>
                  </a:lnTo>
                  <a:cubicBezTo>
                    <a:pt x="10611485" y="2203577"/>
                    <a:pt x="10680065" y="2135251"/>
                    <a:pt x="10680065" y="2051177"/>
                  </a:cubicBezTo>
                  <a:lnTo>
                    <a:pt x="10680065" y="165100"/>
                  </a:lnTo>
                  <a:cubicBezTo>
                    <a:pt x="10680065" y="80899"/>
                    <a:pt x="10611485" y="12700"/>
                    <a:pt x="10526903" y="12700"/>
                  </a:cubicBezTo>
                  <a:lnTo>
                    <a:pt x="165862" y="12700"/>
                  </a:lnTo>
                  <a:lnTo>
                    <a:pt x="165862" y="6350"/>
                  </a:lnTo>
                  <a:lnTo>
                    <a:pt x="165862" y="12700"/>
                  </a:lnTo>
                  <a:cubicBezTo>
                    <a:pt x="81280" y="12700"/>
                    <a:pt x="12700" y="81026"/>
                    <a:pt x="12700" y="165100"/>
                  </a:cubicBezTo>
                  <a:close/>
                </a:path>
              </a:pathLst>
            </a:custGeom>
            <a:solidFill>
              <a:srgbClr val="C1D6D4"/>
            </a:solidFill>
          </p:spPr>
        </p:sp>
      </p:grpSp>
      <p:sp>
        <p:nvSpPr>
          <p:cNvPr name="TextBox 16" id="16"/>
          <p:cNvSpPr txBox="true"/>
          <p:nvPr/>
        </p:nvSpPr>
        <p:spPr>
          <a:xfrm rot="0">
            <a:off x="9578731" y="5317627"/>
            <a:ext cx="3544043" cy="461962"/>
          </a:xfrm>
          <a:prstGeom prst="rect">
            <a:avLst/>
          </a:prstGeom>
        </p:spPr>
        <p:txBody>
          <a:bodyPr anchor="t" rtlCol="false" tIns="0" lIns="0" bIns="0" rIns="0">
            <a:spAutoFit/>
          </a:bodyPr>
          <a:lstStyle/>
          <a:p>
            <a:pPr algn="l">
              <a:lnSpc>
                <a:spcPts val="3437"/>
              </a:lnSpc>
            </a:pPr>
            <a:r>
              <a:rPr lang="en-US" sz="2750" b="true">
                <a:solidFill>
                  <a:srgbClr val="695D46"/>
                </a:solidFill>
                <a:latin typeface="PT Sans Bold"/>
                <a:ea typeface="PT Sans Bold"/>
                <a:cs typeface="PT Sans Bold"/>
                <a:sym typeface="PT Sans Bold"/>
              </a:rPr>
              <a:t>Dhruvin Solanki</a:t>
            </a:r>
          </a:p>
        </p:txBody>
      </p:sp>
      <p:sp>
        <p:nvSpPr>
          <p:cNvPr name="TextBox 17" id="17"/>
          <p:cNvSpPr txBox="true"/>
          <p:nvPr/>
        </p:nvSpPr>
        <p:spPr>
          <a:xfrm rot="0">
            <a:off x="9578731" y="5863981"/>
            <a:ext cx="7423995" cy="539353"/>
          </a:xfrm>
          <a:prstGeom prst="rect">
            <a:avLst/>
          </a:prstGeom>
        </p:spPr>
        <p:txBody>
          <a:bodyPr anchor="t" rtlCol="false" tIns="0" lIns="0" bIns="0" rIns="0">
            <a:spAutoFit/>
          </a:bodyPr>
          <a:lstStyle/>
          <a:p>
            <a:pPr algn="l">
              <a:lnSpc>
                <a:spcPts val="3562"/>
              </a:lnSpc>
            </a:pPr>
            <a:r>
              <a:rPr lang="en-US" sz="2187">
                <a:solidFill>
                  <a:srgbClr val="695D46"/>
                </a:solidFill>
                <a:latin typeface="Open Sans"/>
                <a:ea typeface="Open Sans"/>
                <a:cs typeface="Open Sans"/>
                <a:sym typeface="Open Sans"/>
              </a:rPr>
              <a:t>1262251026</a:t>
            </a:r>
          </a:p>
        </p:txBody>
      </p:sp>
      <p:sp>
        <p:nvSpPr>
          <p:cNvPr name="TextBox 18" id="18"/>
          <p:cNvSpPr txBox="true"/>
          <p:nvPr/>
        </p:nvSpPr>
        <p:spPr>
          <a:xfrm rot="0">
            <a:off x="992238" y="6929590"/>
            <a:ext cx="16303523" cy="539353"/>
          </a:xfrm>
          <a:prstGeom prst="rect">
            <a:avLst/>
          </a:prstGeom>
        </p:spPr>
        <p:txBody>
          <a:bodyPr anchor="t" rtlCol="false" tIns="0" lIns="0" bIns="0" rIns="0">
            <a:spAutoFit/>
          </a:bodyPr>
          <a:lstStyle/>
          <a:p>
            <a:pPr algn="l">
              <a:lnSpc>
                <a:spcPts val="3562"/>
              </a:lnSpc>
            </a:pPr>
            <a:r>
              <a:rPr lang="en-US" sz="2187">
                <a:solidFill>
                  <a:srgbClr val="695D46"/>
                </a:solidFill>
                <a:latin typeface="Open Sans"/>
                <a:ea typeface="Open Sans"/>
                <a:cs typeface="Open Sans"/>
                <a:sym typeface="Open Sans"/>
              </a:rPr>
              <a:t>Guided by: Mr. Shirish Paygude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6E6E6"/>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grpSp>
        <p:nvGrpSpPr>
          <p:cNvPr name="Group 6" id="6"/>
          <p:cNvGrpSpPr/>
          <p:nvPr/>
        </p:nvGrpSpPr>
        <p:grpSpPr>
          <a:xfrm rot="0">
            <a:off x="0" y="0"/>
            <a:ext cx="18288000" cy="3488684"/>
            <a:chOff x="0" y="0"/>
            <a:chExt cx="24384000" cy="4651578"/>
          </a:xfrm>
        </p:grpSpPr>
        <p:sp>
          <p:nvSpPr>
            <p:cNvPr name="Freeform 7" id="7" descr="preencoded.png"/>
            <p:cNvSpPr/>
            <p:nvPr/>
          </p:nvSpPr>
          <p:spPr>
            <a:xfrm flipH="false" flipV="false" rot="0">
              <a:off x="0" y="0"/>
              <a:ext cx="24384000" cy="4651629"/>
            </a:xfrm>
            <a:custGeom>
              <a:avLst/>
              <a:gdLst/>
              <a:ahLst/>
              <a:cxnLst/>
              <a:rect r="r" b="b" t="t" l="l"/>
              <a:pathLst>
                <a:path h="4651629" w="24384000">
                  <a:moveTo>
                    <a:pt x="0" y="0"/>
                  </a:moveTo>
                  <a:lnTo>
                    <a:pt x="24384000" y="0"/>
                  </a:lnTo>
                  <a:lnTo>
                    <a:pt x="24384000" y="4651629"/>
                  </a:lnTo>
                  <a:lnTo>
                    <a:pt x="0" y="4651629"/>
                  </a:lnTo>
                  <a:lnTo>
                    <a:pt x="0" y="0"/>
                  </a:lnTo>
                  <a:close/>
                </a:path>
              </a:pathLst>
            </a:custGeom>
            <a:blipFill>
              <a:blip r:embed="rId3"/>
              <a:stretch>
                <a:fillRect l="-36" t="0" r="-36" b="1"/>
              </a:stretch>
            </a:blipFill>
          </p:spPr>
        </p:sp>
      </p:grpSp>
      <p:sp>
        <p:nvSpPr>
          <p:cNvPr name="TextBox 8" id="8"/>
          <p:cNvSpPr txBox="true"/>
          <p:nvPr/>
        </p:nvSpPr>
        <p:spPr>
          <a:xfrm rot="0">
            <a:off x="976760" y="4300985"/>
            <a:ext cx="5581945" cy="716756"/>
          </a:xfrm>
          <a:prstGeom prst="rect">
            <a:avLst/>
          </a:prstGeom>
        </p:spPr>
        <p:txBody>
          <a:bodyPr anchor="t" rtlCol="false" tIns="0" lIns="0" bIns="0" rIns="0">
            <a:spAutoFit/>
          </a:bodyPr>
          <a:lstStyle/>
          <a:p>
            <a:pPr algn="l">
              <a:lnSpc>
                <a:spcPts val="5437"/>
              </a:lnSpc>
            </a:pPr>
            <a:r>
              <a:rPr lang="en-US" sz="4375" b="true">
                <a:solidFill>
                  <a:srgbClr val="EF6C00"/>
                </a:solidFill>
                <a:latin typeface="PT Sans Bold"/>
                <a:ea typeface="PT Sans Bold"/>
                <a:cs typeface="PT Sans Bold"/>
                <a:sym typeface="PT Sans Bold"/>
              </a:rPr>
              <a:t>Introduction &amp; Motivation</a:t>
            </a:r>
          </a:p>
        </p:txBody>
      </p:sp>
      <p:sp>
        <p:nvSpPr>
          <p:cNvPr name="TextBox 9" id="9"/>
          <p:cNvSpPr txBox="true"/>
          <p:nvPr/>
        </p:nvSpPr>
        <p:spPr>
          <a:xfrm rot="0">
            <a:off x="976760" y="5353641"/>
            <a:ext cx="16334480" cy="1404938"/>
          </a:xfrm>
          <a:prstGeom prst="rect">
            <a:avLst/>
          </a:prstGeom>
        </p:spPr>
        <p:txBody>
          <a:bodyPr anchor="t" rtlCol="false" tIns="0" lIns="0" bIns="0" rIns="0">
            <a:spAutoFit/>
          </a:bodyPr>
          <a:lstStyle/>
          <a:p>
            <a:pPr algn="l">
              <a:lnSpc>
                <a:spcPts val="3437"/>
              </a:lnSpc>
            </a:pPr>
            <a:r>
              <a:rPr lang="en-US" sz="2187">
                <a:solidFill>
                  <a:srgbClr val="695D46"/>
                </a:solidFill>
                <a:latin typeface="Open Sans"/>
                <a:ea typeface="Open Sans"/>
                <a:cs typeface="Open Sans"/>
                <a:sym typeface="Open Sans"/>
              </a:rPr>
              <a:t>We built a C-based application to digitize student academic records and automate grading workflows. Manual systems suffer human error, inconsistent calculations, and redundant file handling. This project improves speed, accuracy, and provides persistent, auditable records.</a:t>
            </a:r>
          </a:p>
        </p:txBody>
      </p:sp>
      <p:sp>
        <p:nvSpPr>
          <p:cNvPr name="Freeform 10" id="10" descr="preencoded.png"/>
          <p:cNvSpPr/>
          <p:nvPr/>
        </p:nvSpPr>
        <p:spPr>
          <a:xfrm flipH="false" flipV="false" rot="0">
            <a:off x="976760" y="7067550"/>
            <a:ext cx="558108" cy="558108"/>
          </a:xfrm>
          <a:custGeom>
            <a:avLst/>
            <a:gdLst/>
            <a:ahLst/>
            <a:cxnLst/>
            <a:rect r="r" b="b" t="t" l="l"/>
            <a:pathLst>
              <a:path h="558108" w="558108">
                <a:moveTo>
                  <a:pt x="0" y="0"/>
                </a:moveTo>
                <a:lnTo>
                  <a:pt x="558108" y="0"/>
                </a:lnTo>
                <a:lnTo>
                  <a:pt x="558108" y="558108"/>
                </a:lnTo>
                <a:lnTo>
                  <a:pt x="0" y="558108"/>
                </a:lnTo>
                <a:lnTo>
                  <a:pt x="0" y="0"/>
                </a:lnTo>
                <a:close/>
              </a:path>
            </a:pathLst>
          </a:custGeom>
          <a:blipFill>
            <a:blip r:embed="rId4">
              <a:extLst>
                <a:ext uri="{96DAC541-7B7A-43D3-8B79-37D633B846F1}">
                  <asvg:svgBlip xmlns:asvg="http://schemas.microsoft.com/office/drawing/2016/SVG/main" r:embed="rId5"/>
                </a:ext>
              </a:extLst>
            </a:blip>
            <a:stretch>
              <a:fillRect l="-3389" t="0" r="-3389" b="0"/>
            </a:stretch>
          </a:blipFill>
        </p:spPr>
      </p:sp>
      <p:sp>
        <p:nvSpPr>
          <p:cNvPr name="TextBox 11" id="11"/>
          <p:cNvSpPr txBox="true"/>
          <p:nvPr/>
        </p:nvSpPr>
        <p:spPr>
          <a:xfrm rot="0">
            <a:off x="976760" y="7959481"/>
            <a:ext cx="3488684" cy="445589"/>
          </a:xfrm>
          <a:prstGeom prst="rect">
            <a:avLst/>
          </a:prstGeom>
        </p:spPr>
        <p:txBody>
          <a:bodyPr anchor="t" rtlCol="false" tIns="0" lIns="0" bIns="0" rIns="0">
            <a:spAutoFit/>
          </a:bodyPr>
          <a:lstStyle/>
          <a:p>
            <a:pPr algn="l">
              <a:lnSpc>
                <a:spcPts val="3374"/>
              </a:lnSpc>
            </a:pPr>
            <a:r>
              <a:rPr lang="en-US" sz="2687" b="true">
                <a:solidFill>
                  <a:srgbClr val="695D46"/>
                </a:solidFill>
                <a:latin typeface="PT Sans Bold"/>
                <a:ea typeface="PT Sans Bold"/>
                <a:cs typeface="PT Sans Bold"/>
                <a:sym typeface="PT Sans Bold"/>
              </a:rPr>
              <a:t>Performance</a:t>
            </a:r>
          </a:p>
        </p:txBody>
      </p:sp>
      <p:sp>
        <p:nvSpPr>
          <p:cNvPr name="TextBox 12" id="12"/>
          <p:cNvSpPr txBox="true"/>
          <p:nvPr/>
        </p:nvSpPr>
        <p:spPr>
          <a:xfrm rot="0">
            <a:off x="976760" y="8493623"/>
            <a:ext cx="5215833" cy="962025"/>
          </a:xfrm>
          <a:prstGeom prst="rect">
            <a:avLst/>
          </a:prstGeom>
        </p:spPr>
        <p:txBody>
          <a:bodyPr anchor="t" rtlCol="false" tIns="0" lIns="0" bIns="0" rIns="0">
            <a:spAutoFit/>
          </a:bodyPr>
          <a:lstStyle/>
          <a:p>
            <a:pPr algn="l">
              <a:lnSpc>
                <a:spcPts val="3437"/>
              </a:lnSpc>
            </a:pPr>
            <a:r>
              <a:rPr lang="en-US" sz="2187">
                <a:solidFill>
                  <a:srgbClr val="695D46"/>
                </a:solidFill>
                <a:latin typeface="Open Sans"/>
                <a:ea typeface="Open Sans"/>
                <a:cs typeface="Open Sans"/>
                <a:sym typeface="Open Sans"/>
              </a:rPr>
              <a:t>Fast grade computations using efficient algorithms (qsort).</a:t>
            </a:r>
          </a:p>
        </p:txBody>
      </p:sp>
      <p:sp>
        <p:nvSpPr>
          <p:cNvPr name="Freeform 13" id="13" descr="preencoded.png"/>
          <p:cNvSpPr/>
          <p:nvPr/>
        </p:nvSpPr>
        <p:spPr>
          <a:xfrm flipH="false" flipV="false" rot="0">
            <a:off x="6535941" y="7067550"/>
            <a:ext cx="558108" cy="558108"/>
          </a:xfrm>
          <a:custGeom>
            <a:avLst/>
            <a:gdLst/>
            <a:ahLst/>
            <a:cxnLst/>
            <a:rect r="r" b="b" t="t" l="l"/>
            <a:pathLst>
              <a:path h="558108" w="558108">
                <a:moveTo>
                  <a:pt x="0" y="0"/>
                </a:moveTo>
                <a:lnTo>
                  <a:pt x="558108" y="0"/>
                </a:lnTo>
                <a:lnTo>
                  <a:pt x="558108" y="558108"/>
                </a:lnTo>
                <a:lnTo>
                  <a:pt x="0" y="558108"/>
                </a:lnTo>
                <a:lnTo>
                  <a:pt x="0" y="0"/>
                </a:lnTo>
                <a:close/>
              </a:path>
            </a:pathLst>
          </a:custGeom>
          <a:blipFill>
            <a:blip r:embed="rId6">
              <a:extLst>
                <a:ext uri="{96DAC541-7B7A-43D3-8B79-37D633B846F1}">
                  <asvg:svgBlip xmlns:asvg="http://schemas.microsoft.com/office/drawing/2016/SVG/main" r:embed="rId7"/>
                </a:ext>
              </a:extLst>
            </a:blip>
            <a:stretch>
              <a:fillRect l="0" t="-7627" r="0" b="-7627"/>
            </a:stretch>
          </a:blipFill>
        </p:spPr>
      </p:sp>
      <p:sp>
        <p:nvSpPr>
          <p:cNvPr name="TextBox 14" id="14"/>
          <p:cNvSpPr txBox="true"/>
          <p:nvPr/>
        </p:nvSpPr>
        <p:spPr>
          <a:xfrm rot="0">
            <a:off x="6535941" y="7959481"/>
            <a:ext cx="3488684" cy="445589"/>
          </a:xfrm>
          <a:prstGeom prst="rect">
            <a:avLst/>
          </a:prstGeom>
        </p:spPr>
        <p:txBody>
          <a:bodyPr anchor="t" rtlCol="false" tIns="0" lIns="0" bIns="0" rIns="0">
            <a:spAutoFit/>
          </a:bodyPr>
          <a:lstStyle/>
          <a:p>
            <a:pPr algn="l">
              <a:lnSpc>
                <a:spcPts val="3374"/>
              </a:lnSpc>
            </a:pPr>
            <a:r>
              <a:rPr lang="en-US" sz="2687" b="true">
                <a:solidFill>
                  <a:srgbClr val="695D46"/>
                </a:solidFill>
                <a:latin typeface="PT Sans Bold"/>
                <a:ea typeface="PT Sans Bold"/>
                <a:cs typeface="PT Sans Bold"/>
                <a:sym typeface="PT Sans Bold"/>
              </a:rPr>
              <a:t>Persistence</a:t>
            </a:r>
          </a:p>
        </p:txBody>
      </p:sp>
      <p:sp>
        <p:nvSpPr>
          <p:cNvPr name="TextBox 15" id="15"/>
          <p:cNvSpPr txBox="true"/>
          <p:nvPr/>
        </p:nvSpPr>
        <p:spPr>
          <a:xfrm rot="0">
            <a:off x="6535941" y="8493623"/>
            <a:ext cx="5215976" cy="962025"/>
          </a:xfrm>
          <a:prstGeom prst="rect">
            <a:avLst/>
          </a:prstGeom>
        </p:spPr>
        <p:txBody>
          <a:bodyPr anchor="t" rtlCol="false" tIns="0" lIns="0" bIns="0" rIns="0">
            <a:spAutoFit/>
          </a:bodyPr>
          <a:lstStyle/>
          <a:p>
            <a:pPr algn="l">
              <a:lnSpc>
                <a:spcPts val="3437"/>
              </a:lnSpc>
            </a:pPr>
            <a:r>
              <a:rPr lang="en-US" sz="2187">
                <a:solidFill>
                  <a:srgbClr val="695D46"/>
                </a:solidFill>
                <a:latin typeface="Open Sans"/>
                <a:ea typeface="Open Sans"/>
                <a:cs typeface="Open Sans"/>
                <a:sym typeface="Open Sans"/>
              </a:rPr>
              <a:t>CSV-based storage for easy import/export and backup.</a:t>
            </a:r>
          </a:p>
        </p:txBody>
      </p:sp>
      <p:sp>
        <p:nvSpPr>
          <p:cNvPr name="Freeform 16" id="16" descr="preencoded.png"/>
          <p:cNvSpPr/>
          <p:nvPr/>
        </p:nvSpPr>
        <p:spPr>
          <a:xfrm flipH="false" flipV="false" rot="0">
            <a:off x="12095264" y="7067550"/>
            <a:ext cx="558108" cy="558108"/>
          </a:xfrm>
          <a:custGeom>
            <a:avLst/>
            <a:gdLst/>
            <a:ahLst/>
            <a:cxnLst/>
            <a:rect r="r" b="b" t="t" l="l"/>
            <a:pathLst>
              <a:path h="558108" w="558108">
                <a:moveTo>
                  <a:pt x="0" y="0"/>
                </a:moveTo>
                <a:lnTo>
                  <a:pt x="558108" y="0"/>
                </a:lnTo>
                <a:lnTo>
                  <a:pt x="558108" y="558108"/>
                </a:lnTo>
                <a:lnTo>
                  <a:pt x="0" y="558108"/>
                </a:lnTo>
                <a:lnTo>
                  <a:pt x="0" y="0"/>
                </a:lnTo>
                <a:close/>
              </a:path>
            </a:pathLst>
          </a:custGeom>
          <a:blipFill>
            <a:blip r:embed="rId8">
              <a:extLst>
                <a:ext uri="{96DAC541-7B7A-43D3-8B79-37D633B846F1}">
                  <asvg:svgBlip xmlns:asvg="http://schemas.microsoft.com/office/drawing/2016/SVG/main" r:embed="rId9"/>
                </a:ext>
              </a:extLst>
            </a:blip>
            <a:stretch>
              <a:fillRect l="0" t="-7627" r="0" b="-7627"/>
            </a:stretch>
          </a:blipFill>
        </p:spPr>
      </p:sp>
      <p:sp>
        <p:nvSpPr>
          <p:cNvPr name="TextBox 17" id="17"/>
          <p:cNvSpPr txBox="true"/>
          <p:nvPr/>
        </p:nvSpPr>
        <p:spPr>
          <a:xfrm rot="0">
            <a:off x="12095264" y="7959481"/>
            <a:ext cx="3488684" cy="445589"/>
          </a:xfrm>
          <a:prstGeom prst="rect">
            <a:avLst/>
          </a:prstGeom>
        </p:spPr>
        <p:txBody>
          <a:bodyPr anchor="t" rtlCol="false" tIns="0" lIns="0" bIns="0" rIns="0">
            <a:spAutoFit/>
          </a:bodyPr>
          <a:lstStyle/>
          <a:p>
            <a:pPr algn="l">
              <a:lnSpc>
                <a:spcPts val="3374"/>
              </a:lnSpc>
            </a:pPr>
            <a:r>
              <a:rPr lang="en-US" sz="2687" b="true">
                <a:solidFill>
                  <a:srgbClr val="695D46"/>
                </a:solidFill>
                <a:latin typeface="PT Sans Bold"/>
                <a:ea typeface="PT Sans Bold"/>
                <a:cs typeface="PT Sans Bold"/>
                <a:sym typeface="PT Sans Bold"/>
              </a:rPr>
              <a:t>Reliability</a:t>
            </a:r>
          </a:p>
        </p:txBody>
      </p:sp>
      <p:sp>
        <p:nvSpPr>
          <p:cNvPr name="TextBox 18" id="18"/>
          <p:cNvSpPr txBox="true"/>
          <p:nvPr/>
        </p:nvSpPr>
        <p:spPr>
          <a:xfrm rot="0">
            <a:off x="12095264" y="8493623"/>
            <a:ext cx="5215833" cy="962025"/>
          </a:xfrm>
          <a:prstGeom prst="rect">
            <a:avLst/>
          </a:prstGeom>
        </p:spPr>
        <p:txBody>
          <a:bodyPr anchor="t" rtlCol="false" tIns="0" lIns="0" bIns="0" rIns="0">
            <a:spAutoFit/>
          </a:bodyPr>
          <a:lstStyle/>
          <a:p>
            <a:pPr algn="l">
              <a:lnSpc>
                <a:spcPts val="3437"/>
              </a:lnSpc>
            </a:pPr>
            <a:r>
              <a:rPr lang="en-US" sz="2187">
                <a:solidFill>
                  <a:srgbClr val="695D46"/>
                </a:solidFill>
                <a:latin typeface="Open Sans"/>
                <a:ea typeface="Open Sans"/>
                <a:cs typeface="Open Sans"/>
                <a:sym typeface="Open Sans"/>
              </a:rPr>
              <a:t>Duplicate-roll protection and input validation to preserve integrity.</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6E6E6"/>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grpSp>
        <p:nvGrpSpPr>
          <p:cNvPr name="Group 6" id="6"/>
          <p:cNvGrpSpPr/>
          <p:nvPr/>
        </p:nvGrpSpPr>
        <p:grpSpPr>
          <a:xfrm rot="0">
            <a:off x="11430000" y="-95841"/>
            <a:ext cx="6858000" cy="10287000"/>
            <a:chOff x="0" y="0"/>
            <a:chExt cx="9144000" cy="13716000"/>
          </a:xfrm>
        </p:grpSpPr>
        <p:sp>
          <p:nvSpPr>
            <p:cNvPr name="Freeform 7" id="7"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3"/>
              <a:stretch>
                <a:fillRect l="0" t="0" r="0" b="0"/>
              </a:stretch>
            </a:blipFill>
          </p:spPr>
        </p:sp>
      </p:grpSp>
      <p:sp>
        <p:nvSpPr>
          <p:cNvPr name="TextBox 8" id="8"/>
          <p:cNvSpPr txBox="true"/>
          <p:nvPr/>
        </p:nvSpPr>
        <p:spPr>
          <a:xfrm rot="0">
            <a:off x="992238" y="1762420"/>
            <a:ext cx="6588471" cy="727767"/>
          </a:xfrm>
          <a:prstGeom prst="rect">
            <a:avLst/>
          </a:prstGeom>
        </p:spPr>
        <p:txBody>
          <a:bodyPr anchor="t" rtlCol="false" tIns="0" lIns="0" bIns="0" rIns="0">
            <a:spAutoFit/>
          </a:bodyPr>
          <a:lstStyle/>
          <a:p>
            <a:pPr algn="l">
              <a:lnSpc>
                <a:spcPts val="5562"/>
              </a:lnSpc>
            </a:pPr>
            <a:r>
              <a:rPr lang="en-US" sz="4437" b="true">
                <a:solidFill>
                  <a:srgbClr val="EF6C00"/>
                </a:solidFill>
                <a:latin typeface="PT Sans Bold"/>
                <a:ea typeface="PT Sans Bold"/>
                <a:cs typeface="PT Sans Bold"/>
                <a:sym typeface="PT Sans Bold"/>
              </a:rPr>
              <a:t>Problem Statement &amp; Objectives</a:t>
            </a:r>
          </a:p>
        </p:txBody>
      </p:sp>
      <p:sp>
        <p:nvSpPr>
          <p:cNvPr name="TextBox 9" id="9"/>
          <p:cNvSpPr txBox="true"/>
          <p:nvPr/>
        </p:nvSpPr>
        <p:spPr>
          <a:xfrm rot="0">
            <a:off x="992238" y="2829668"/>
            <a:ext cx="9445523" cy="992981"/>
          </a:xfrm>
          <a:prstGeom prst="rect">
            <a:avLst/>
          </a:prstGeom>
        </p:spPr>
        <p:txBody>
          <a:bodyPr anchor="t" rtlCol="false" tIns="0" lIns="0" bIns="0" rIns="0">
            <a:spAutoFit/>
          </a:bodyPr>
          <a:lstStyle/>
          <a:p>
            <a:pPr algn="l">
              <a:lnSpc>
                <a:spcPts val="3562"/>
              </a:lnSpc>
            </a:pPr>
            <a:r>
              <a:rPr lang="en-US" sz="2187">
                <a:solidFill>
                  <a:srgbClr val="695D46"/>
                </a:solidFill>
                <a:latin typeface="Open Sans"/>
                <a:ea typeface="Open Sans"/>
                <a:cs typeface="Open Sans"/>
                <a:sym typeface="Open Sans"/>
              </a:rPr>
              <a:t>Problem: Need a reliable tool to manage large student mark datasets while ensuring integrity and enabling analytics.</a:t>
            </a:r>
          </a:p>
        </p:txBody>
      </p:sp>
      <p:grpSp>
        <p:nvGrpSpPr>
          <p:cNvPr name="Group 10" id="10"/>
          <p:cNvGrpSpPr/>
          <p:nvPr/>
        </p:nvGrpSpPr>
        <p:grpSpPr>
          <a:xfrm rot="0">
            <a:off x="987476" y="4136822"/>
            <a:ext cx="2968971" cy="4373318"/>
            <a:chOff x="0" y="0"/>
            <a:chExt cx="3958628" cy="5831091"/>
          </a:xfrm>
        </p:grpSpPr>
        <p:sp>
          <p:nvSpPr>
            <p:cNvPr name="Freeform 11" id="11"/>
            <p:cNvSpPr/>
            <p:nvPr/>
          </p:nvSpPr>
          <p:spPr>
            <a:xfrm flipH="false" flipV="false" rot="0">
              <a:off x="6350" y="6350"/>
              <a:ext cx="3945890" cy="5818505"/>
            </a:xfrm>
            <a:custGeom>
              <a:avLst/>
              <a:gdLst/>
              <a:ahLst/>
              <a:cxnLst/>
              <a:rect r="r" b="b" t="t" l="l"/>
              <a:pathLst>
                <a:path h="5818505" w="3945890">
                  <a:moveTo>
                    <a:pt x="0" y="159004"/>
                  </a:moveTo>
                  <a:cubicBezTo>
                    <a:pt x="0" y="71120"/>
                    <a:pt x="71120" y="0"/>
                    <a:pt x="158750" y="0"/>
                  </a:cubicBezTo>
                  <a:lnTo>
                    <a:pt x="3787140" y="0"/>
                  </a:lnTo>
                  <a:cubicBezTo>
                    <a:pt x="3874897" y="0"/>
                    <a:pt x="3945890" y="71120"/>
                    <a:pt x="3945890" y="159004"/>
                  </a:cubicBezTo>
                  <a:lnTo>
                    <a:pt x="3945890" y="5659501"/>
                  </a:lnTo>
                  <a:cubicBezTo>
                    <a:pt x="3945890" y="5747258"/>
                    <a:pt x="3874770" y="5818505"/>
                    <a:pt x="3787140" y="5818505"/>
                  </a:cubicBezTo>
                  <a:lnTo>
                    <a:pt x="158750" y="5818505"/>
                  </a:lnTo>
                  <a:cubicBezTo>
                    <a:pt x="70993" y="5818505"/>
                    <a:pt x="0" y="5747385"/>
                    <a:pt x="0" y="5659501"/>
                  </a:cubicBezTo>
                  <a:close/>
                </a:path>
              </a:pathLst>
            </a:custGeom>
            <a:solidFill>
              <a:srgbClr val="DBF0EE"/>
            </a:solidFill>
          </p:spPr>
        </p:sp>
        <p:sp>
          <p:nvSpPr>
            <p:cNvPr name="Freeform 12" id="12"/>
            <p:cNvSpPr/>
            <p:nvPr/>
          </p:nvSpPr>
          <p:spPr>
            <a:xfrm flipH="false" flipV="false" rot="0">
              <a:off x="0" y="0"/>
              <a:ext cx="3958590" cy="5831205"/>
            </a:xfrm>
            <a:custGeom>
              <a:avLst/>
              <a:gdLst/>
              <a:ahLst/>
              <a:cxnLst/>
              <a:rect r="r" b="b" t="t" l="l"/>
              <a:pathLst>
                <a:path h="5831205" w="3958590">
                  <a:moveTo>
                    <a:pt x="0" y="165354"/>
                  </a:moveTo>
                  <a:cubicBezTo>
                    <a:pt x="0" y="74041"/>
                    <a:pt x="73914" y="0"/>
                    <a:pt x="165100" y="0"/>
                  </a:cubicBezTo>
                  <a:lnTo>
                    <a:pt x="3793490" y="0"/>
                  </a:lnTo>
                  <a:lnTo>
                    <a:pt x="3793490" y="6350"/>
                  </a:lnTo>
                  <a:lnTo>
                    <a:pt x="3793490" y="0"/>
                  </a:lnTo>
                  <a:cubicBezTo>
                    <a:pt x="3884676" y="0"/>
                    <a:pt x="3958590" y="74041"/>
                    <a:pt x="3958590" y="165354"/>
                  </a:cubicBezTo>
                  <a:lnTo>
                    <a:pt x="3952240" y="165354"/>
                  </a:lnTo>
                  <a:lnTo>
                    <a:pt x="3958590" y="165354"/>
                  </a:lnTo>
                  <a:lnTo>
                    <a:pt x="3958590" y="5665851"/>
                  </a:lnTo>
                  <a:lnTo>
                    <a:pt x="3952240" y="5665851"/>
                  </a:lnTo>
                  <a:lnTo>
                    <a:pt x="3958590" y="5665851"/>
                  </a:lnTo>
                  <a:cubicBezTo>
                    <a:pt x="3958590" y="5757164"/>
                    <a:pt x="3884676" y="5831205"/>
                    <a:pt x="3793490" y="5831205"/>
                  </a:cubicBezTo>
                  <a:lnTo>
                    <a:pt x="3793490" y="5824855"/>
                  </a:lnTo>
                  <a:lnTo>
                    <a:pt x="3793490" y="5831205"/>
                  </a:lnTo>
                  <a:lnTo>
                    <a:pt x="165100" y="5831205"/>
                  </a:lnTo>
                  <a:lnTo>
                    <a:pt x="165100" y="5824855"/>
                  </a:lnTo>
                  <a:lnTo>
                    <a:pt x="165100" y="5831205"/>
                  </a:lnTo>
                  <a:cubicBezTo>
                    <a:pt x="73914" y="5831205"/>
                    <a:pt x="0" y="5757164"/>
                    <a:pt x="0" y="5665851"/>
                  </a:cubicBezTo>
                  <a:lnTo>
                    <a:pt x="0" y="165354"/>
                  </a:lnTo>
                  <a:lnTo>
                    <a:pt x="6350" y="165354"/>
                  </a:lnTo>
                  <a:lnTo>
                    <a:pt x="0" y="165354"/>
                  </a:lnTo>
                  <a:moveTo>
                    <a:pt x="12700" y="165354"/>
                  </a:moveTo>
                  <a:lnTo>
                    <a:pt x="12700" y="5665851"/>
                  </a:lnTo>
                  <a:lnTo>
                    <a:pt x="6350" y="5665851"/>
                  </a:lnTo>
                  <a:lnTo>
                    <a:pt x="12700" y="5665851"/>
                  </a:lnTo>
                  <a:cubicBezTo>
                    <a:pt x="12700" y="5750179"/>
                    <a:pt x="80899" y="5818505"/>
                    <a:pt x="165100" y="5818505"/>
                  </a:cubicBezTo>
                  <a:lnTo>
                    <a:pt x="3793490" y="5818505"/>
                  </a:lnTo>
                  <a:cubicBezTo>
                    <a:pt x="3877691" y="5818505"/>
                    <a:pt x="3945890" y="5750179"/>
                    <a:pt x="3945890" y="5665851"/>
                  </a:cubicBezTo>
                  <a:lnTo>
                    <a:pt x="3945890" y="165354"/>
                  </a:lnTo>
                  <a:cubicBezTo>
                    <a:pt x="3945890" y="81026"/>
                    <a:pt x="3877691" y="12700"/>
                    <a:pt x="3793490" y="12700"/>
                  </a:cubicBezTo>
                  <a:lnTo>
                    <a:pt x="165100" y="12700"/>
                  </a:lnTo>
                  <a:lnTo>
                    <a:pt x="165100" y="6350"/>
                  </a:lnTo>
                  <a:lnTo>
                    <a:pt x="165100" y="12700"/>
                  </a:lnTo>
                  <a:cubicBezTo>
                    <a:pt x="80899" y="12700"/>
                    <a:pt x="12700" y="81026"/>
                    <a:pt x="12700" y="165354"/>
                  </a:cubicBezTo>
                  <a:close/>
                </a:path>
              </a:pathLst>
            </a:custGeom>
            <a:solidFill>
              <a:srgbClr val="C1D6D4"/>
            </a:solidFill>
          </p:spPr>
        </p:sp>
      </p:grpSp>
      <p:sp>
        <p:nvSpPr>
          <p:cNvPr name="TextBox 13" id="13"/>
          <p:cNvSpPr txBox="true"/>
          <p:nvPr/>
        </p:nvSpPr>
        <p:spPr>
          <a:xfrm rot="0">
            <a:off x="1285284" y="4415580"/>
            <a:ext cx="2373363" cy="461962"/>
          </a:xfrm>
          <a:prstGeom prst="rect">
            <a:avLst/>
          </a:prstGeom>
        </p:spPr>
        <p:txBody>
          <a:bodyPr anchor="t" rtlCol="false" tIns="0" lIns="0" bIns="0" rIns="0">
            <a:spAutoFit/>
          </a:bodyPr>
          <a:lstStyle/>
          <a:p>
            <a:pPr algn="l">
              <a:lnSpc>
                <a:spcPts val="3437"/>
              </a:lnSpc>
            </a:pPr>
            <a:r>
              <a:rPr lang="en-US" sz="2750" b="true">
                <a:solidFill>
                  <a:srgbClr val="695D46"/>
                </a:solidFill>
                <a:latin typeface="PT Sans Bold"/>
                <a:ea typeface="PT Sans Bold"/>
                <a:cs typeface="PT Sans Bold"/>
                <a:sym typeface="PT Sans Bold"/>
              </a:rPr>
              <a:t>CRUD Operations</a:t>
            </a:r>
          </a:p>
        </p:txBody>
      </p:sp>
      <p:sp>
        <p:nvSpPr>
          <p:cNvPr name="TextBox 14" id="14"/>
          <p:cNvSpPr txBox="true"/>
          <p:nvPr/>
        </p:nvSpPr>
        <p:spPr>
          <a:xfrm rot="0">
            <a:off x="1285284" y="4961934"/>
            <a:ext cx="2373363" cy="2353866"/>
          </a:xfrm>
          <a:prstGeom prst="rect">
            <a:avLst/>
          </a:prstGeom>
        </p:spPr>
        <p:txBody>
          <a:bodyPr anchor="t" rtlCol="false" tIns="0" lIns="0" bIns="0" rIns="0">
            <a:spAutoFit/>
          </a:bodyPr>
          <a:lstStyle/>
          <a:p>
            <a:pPr algn="l">
              <a:lnSpc>
                <a:spcPts val="3562"/>
              </a:lnSpc>
            </a:pPr>
            <a:r>
              <a:rPr lang="en-US" sz="2187">
                <a:solidFill>
                  <a:srgbClr val="695D46"/>
                </a:solidFill>
                <a:latin typeface="Open Sans"/>
                <a:ea typeface="Open Sans"/>
                <a:cs typeface="Open Sans"/>
                <a:sym typeface="Open Sans"/>
              </a:rPr>
              <a:t>Create, Read, Update, Delete student records via menu-driven interface.</a:t>
            </a:r>
          </a:p>
        </p:txBody>
      </p:sp>
      <p:grpSp>
        <p:nvGrpSpPr>
          <p:cNvPr name="Group 15" id="15"/>
          <p:cNvGrpSpPr/>
          <p:nvPr/>
        </p:nvGrpSpPr>
        <p:grpSpPr>
          <a:xfrm rot="0">
            <a:off x="4230443" y="4136822"/>
            <a:ext cx="2968971" cy="4373318"/>
            <a:chOff x="0" y="0"/>
            <a:chExt cx="3958628" cy="5831091"/>
          </a:xfrm>
        </p:grpSpPr>
        <p:sp>
          <p:nvSpPr>
            <p:cNvPr name="Freeform 16" id="16"/>
            <p:cNvSpPr/>
            <p:nvPr/>
          </p:nvSpPr>
          <p:spPr>
            <a:xfrm flipH="false" flipV="false" rot="0">
              <a:off x="6350" y="6350"/>
              <a:ext cx="3945890" cy="5818505"/>
            </a:xfrm>
            <a:custGeom>
              <a:avLst/>
              <a:gdLst/>
              <a:ahLst/>
              <a:cxnLst/>
              <a:rect r="r" b="b" t="t" l="l"/>
              <a:pathLst>
                <a:path h="5818505" w="3945890">
                  <a:moveTo>
                    <a:pt x="0" y="159004"/>
                  </a:moveTo>
                  <a:cubicBezTo>
                    <a:pt x="0" y="71120"/>
                    <a:pt x="71120" y="0"/>
                    <a:pt x="158750" y="0"/>
                  </a:cubicBezTo>
                  <a:lnTo>
                    <a:pt x="3787140" y="0"/>
                  </a:lnTo>
                  <a:cubicBezTo>
                    <a:pt x="3874897" y="0"/>
                    <a:pt x="3945890" y="71120"/>
                    <a:pt x="3945890" y="159004"/>
                  </a:cubicBezTo>
                  <a:lnTo>
                    <a:pt x="3945890" y="5659501"/>
                  </a:lnTo>
                  <a:cubicBezTo>
                    <a:pt x="3945890" y="5747258"/>
                    <a:pt x="3874770" y="5818505"/>
                    <a:pt x="3787140" y="5818505"/>
                  </a:cubicBezTo>
                  <a:lnTo>
                    <a:pt x="158750" y="5818505"/>
                  </a:lnTo>
                  <a:cubicBezTo>
                    <a:pt x="70993" y="5818505"/>
                    <a:pt x="0" y="5747385"/>
                    <a:pt x="0" y="5659501"/>
                  </a:cubicBezTo>
                  <a:close/>
                </a:path>
              </a:pathLst>
            </a:custGeom>
            <a:solidFill>
              <a:srgbClr val="DBF0EE"/>
            </a:solidFill>
          </p:spPr>
        </p:sp>
        <p:sp>
          <p:nvSpPr>
            <p:cNvPr name="Freeform 17" id="17"/>
            <p:cNvSpPr/>
            <p:nvPr/>
          </p:nvSpPr>
          <p:spPr>
            <a:xfrm flipH="false" flipV="false" rot="0">
              <a:off x="0" y="0"/>
              <a:ext cx="3958590" cy="5831205"/>
            </a:xfrm>
            <a:custGeom>
              <a:avLst/>
              <a:gdLst/>
              <a:ahLst/>
              <a:cxnLst/>
              <a:rect r="r" b="b" t="t" l="l"/>
              <a:pathLst>
                <a:path h="5831205" w="3958590">
                  <a:moveTo>
                    <a:pt x="0" y="165354"/>
                  </a:moveTo>
                  <a:cubicBezTo>
                    <a:pt x="0" y="74041"/>
                    <a:pt x="73914" y="0"/>
                    <a:pt x="165100" y="0"/>
                  </a:cubicBezTo>
                  <a:lnTo>
                    <a:pt x="3793490" y="0"/>
                  </a:lnTo>
                  <a:lnTo>
                    <a:pt x="3793490" y="6350"/>
                  </a:lnTo>
                  <a:lnTo>
                    <a:pt x="3793490" y="0"/>
                  </a:lnTo>
                  <a:cubicBezTo>
                    <a:pt x="3884676" y="0"/>
                    <a:pt x="3958590" y="74041"/>
                    <a:pt x="3958590" y="165354"/>
                  </a:cubicBezTo>
                  <a:lnTo>
                    <a:pt x="3952240" y="165354"/>
                  </a:lnTo>
                  <a:lnTo>
                    <a:pt x="3958590" y="165354"/>
                  </a:lnTo>
                  <a:lnTo>
                    <a:pt x="3958590" y="5665851"/>
                  </a:lnTo>
                  <a:lnTo>
                    <a:pt x="3952240" y="5665851"/>
                  </a:lnTo>
                  <a:lnTo>
                    <a:pt x="3958590" y="5665851"/>
                  </a:lnTo>
                  <a:cubicBezTo>
                    <a:pt x="3958590" y="5757164"/>
                    <a:pt x="3884676" y="5831205"/>
                    <a:pt x="3793490" y="5831205"/>
                  </a:cubicBezTo>
                  <a:lnTo>
                    <a:pt x="3793490" y="5824855"/>
                  </a:lnTo>
                  <a:lnTo>
                    <a:pt x="3793490" y="5831205"/>
                  </a:lnTo>
                  <a:lnTo>
                    <a:pt x="165100" y="5831205"/>
                  </a:lnTo>
                  <a:lnTo>
                    <a:pt x="165100" y="5824855"/>
                  </a:lnTo>
                  <a:lnTo>
                    <a:pt x="165100" y="5831205"/>
                  </a:lnTo>
                  <a:cubicBezTo>
                    <a:pt x="73914" y="5831205"/>
                    <a:pt x="0" y="5757164"/>
                    <a:pt x="0" y="5665851"/>
                  </a:cubicBezTo>
                  <a:lnTo>
                    <a:pt x="0" y="165354"/>
                  </a:lnTo>
                  <a:lnTo>
                    <a:pt x="6350" y="165354"/>
                  </a:lnTo>
                  <a:lnTo>
                    <a:pt x="0" y="165354"/>
                  </a:lnTo>
                  <a:moveTo>
                    <a:pt x="12700" y="165354"/>
                  </a:moveTo>
                  <a:lnTo>
                    <a:pt x="12700" y="5665851"/>
                  </a:lnTo>
                  <a:lnTo>
                    <a:pt x="6350" y="5665851"/>
                  </a:lnTo>
                  <a:lnTo>
                    <a:pt x="12700" y="5665851"/>
                  </a:lnTo>
                  <a:cubicBezTo>
                    <a:pt x="12700" y="5750179"/>
                    <a:pt x="80899" y="5818505"/>
                    <a:pt x="165100" y="5818505"/>
                  </a:cubicBezTo>
                  <a:lnTo>
                    <a:pt x="3793490" y="5818505"/>
                  </a:lnTo>
                  <a:cubicBezTo>
                    <a:pt x="3877691" y="5818505"/>
                    <a:pt x="3945890" y="5750179"/>
                    <a:pt x="3945890" y="5665851"/>
                  </a:cubicBezTo>
                  <a:lnTo>
                    <a:pt x="3945890" y="165354"/>
                  </a:lnTo>
                  <a:cubicBezTo>
                    <a:pt x="3945890" y="81026"/>
                    <a:pt x="3877691" y="12700"/>
                    <a:pt x="3793490" y="12700"/>
                  </a:cubicBezTo>
                  <a:lnTo>
                    <a:pt x="165100" y="12700"/>
                  </a:lnTo>
                  <a:lnTo>
                    <a:pt x="165100" y="6350"/>
                  </a:lnTo>
                  <a:lnTo>
                    <a:pt x="165100" y="12700"/>
                  </a:lnTo>
                  <a:cubicBezTo>
                    <a:pt x="80899" y="12700"/>
                    <a:pt x="12700" y="81026"/>
                    <a:pt x="12700" y="165354"/>
                  </a:cubicBezTo>
                  <a:close/>
                </a:path>
              </a:pathLst>
            </a:custGeom>
            <a:solidFill>
              <a:srgbClr val="C1D6D4"/>
            </a:solidFill>
          </p:spPr>
        </p:sp>
      </p:grpSp>
      <p:sp>
        <p:nvSpPr>
          <p:cNvPr name="TextBox 18" id="18"/>
          <p:cNvSpPr txBox="true"/>
          <p:nvPr/>
        </p:nvSpPr>
        <p:spPr>
          <a:xfrm rot="0">
            <a:off x="4528242" y="4415580"/>
            <a:ext cx="2373363" cy="461962"/>
          </a:xfrm>
          <a:prstGeom prst="rect">
            <a:avLst/>
          </a:prstGeom>
        </p:spPr>
        <p:txBody>
          <a:bodyPr anchor="t" rtlCol="false" tIns="0" lIns="0" bIns="0" rIns="0">
            <a:spAutoFit/>
          </a:bodyPr>
          <a:lstStyle/>
          <a:p>
            <a:pPr algn="l">
              <a:lnSpc>
                <a:spcPts val="3437"/>
              </a:lnSpc>
            </a:pPr>
            <a:r>
              <a:rPr lang="en-US" sz="2750" b="true">
                <a:solidFill>
                  <a:srgbClr val="695D46"/>
                </a:solidFill>
                <a:latin typeface="PT Sans Bold"/>
                <a:ea typeface="PT Sans Bold"/>
                <a:cs typeface="PT Sans Bold"/>
                <a:sym typeface="PT Sans Bold"/>
              </a:rPr>
              <a:t>CSV Persistence</a:t>
            </a:r>
          </a:p>
        </p:txBody>
      </p:sp>
      <p:sp>
        <p:nvSpPr>
          <p:cNvPr name="TextBox 19" id="19"/>
          <p:cNvSpPr txBox="true"/>
          <p:nvPr/>
        </p:nvSpPr>
        <p:spPr>
          <a:xfrm rot="0">
            <a:off x="4528242" y="4961934"/>
            <a:ext cx="2373363" cy="2807494"/>
          </a:xfrm>
          <a:prstGeom prst="rect">
            <a:avLst/>
          </a:prstGeom>
        </p:spPr>
        <p:txBody>
          <a:bodyPr anchor="t" rtlCol="false" tIns="0" lIns="0" bIns="0" rIns="0">
            <a:spAutoFit/>
          </a:bodyPr>
          <a:lstStyle/>
          <a:p>
            <a:pPr algn="l">
              <a:lnSpc>
                <a:spcPts val="3562"/>
              </a:lnSpc>
            </a:pPr>
            <a:r>
              <a:rPr lang="en-US" sz="2187">
                <a:solidFill>
                  <a:srgbClr val="695D46"/>
                </a:solidFill>
                <a:latin typeface="Open Sans"/>
                <a:ea typeface="Open Sans"/>
                <a:cs typeface="Open Sans"/>
                <a:sym typeface="Open Sans"/>
              </a:rPr>
              <a:t>Robust file I/O using formatted parsing (sscanf/fprintf) for durable storage.</a:t>
            </a:r>
          </a:p>
        </p:txBody>
      </p:sp>
      <p:grpSp>
        <p:nvGrpSpPr>
          <p:cNvPr name="Group 20" id="20"/>
          <p:cNvGrpSpPr/>
          <p:nvPr/>
        </p:nvGrpSpPr>
        <p:grpSpPr>
          <a:xfrm rot="0">
            <a:off x="7473401" y="4136822"/>
            <a:ext cx="2968971" cy="4373318"/>
            <a:chOff x="0" y="0"/>
            <a:chExt cx="3958628" cy="5831091"/>
          </a:xfrm>
        </p:grpSpPr>
        <p:sp>
          <p:nvSpPr>
            <p:cNvPr name="Freeform 21" id="21"/>
            <p:cNvSpPr/>
            <p:nvPr/>
          </p:nvSpPr>
          <p:spPr>
            <a:xfrm flipH="false" flipV="false" rot="0">
              <a:off x="6350" y="6350"/>
              <a:ext cx="3945890" cy="5818505"/>
            </a:xfrm>
            <a:custGeom>
              <a:avLst/>
              <a:gdLst/>
              <a:ahLst/>
              <a:cxnLst/>
              <a:rect r="r" b="b" t="t" l="l"/>
              <a:pathLst>
                <a:path h="5818505" w="3945890">
                  <a:moveTo>
                    <a:pt x="0" y="159004"/>
                  </a:moveTo>
                  <a:cubicBezTo>
                    <a:pt x="0" y="71120"/>
                    <a:pt x="71120" y="0"/>
                    <a:pt x="158750" y="0"/>
                  </a:cubicBezTo>
                  <a:lnTo>
                    <a:pt x="3787140" y="0"/>
                  </a:lnTo>
                  <a:cubicBezTo>
                    <a:pt x="3874897" y="0"/>
                    <a:pt x="3945890" y="71120"/>
                    <a:pt x="3945890" y="159004"/>
                  </a:cubicBezTo>
                  <a:lnTo>
                    <a:pt x="3945890" y="5659501"/>
                  </a:lnTo>
                  <a:cubicBezTo>
                    <a:pt x="3945890" y="5747258"/>
                    <a:pt x="3874770" y="5818505"/>
                    <a:pt x="3787140" y="5818505"/>
                  </a:cubicBezTo>
                  <a:lnTo>
                    <a:pt x="158750" y="5818505"/>
                  </a:lnTo>
                  <a:cubicBezTo>
                    <a:pt x="70993" y="5818505"/>
                    <a:pt x="0" y="5747385"/>
                    <a:pt x="0" y="5659501"/>
                  </a:cubicBezTo>
                  <a:close/>
                </a:path>
              </a:pathLst>
            </a:custGeom>
            <a:solidFill>
              <a:srgbClr val="DBF0EE"/>
            </a:solidFill>
          </p:spPr>
        </p:sp>
        <p:sp>
          <p:nvSpPr>
            <p:cNvPr name="Freeform 22" id="22"/>
            <p:cNvSpPr/>
            <p:nvPr/>
          </p:nvSpPr>
          <p:spPr>
            <a:xfrm flipH="false" flipV="false" rot="0">
              <a:off x="0" y="0"/>
              <a:ext cx="3958590" cy="5831205"/>
            </a:xfrm>
            <a:custGeom>
              <a:avLst/>
              <a:gdLst/>
              <a:ahLst/>
              <a:cxnLst/>
              <a:rect r="r" b="b" t="t" l="l"/>
              <a:pathLst>
                <a:path h="5831205" w="3958590">
                  <a:moveTo>
                    <a:pt x="0" y="165354"/>
                  </a:moveTo>
                  <a:cubicBezTo>
                    <a:pt x="0" y="74041"/>
                    <a:pt x="73914" y="0"/>
                    <a:pt x="165100" y="0"/>
                  </a:cubicBezTo>
                  <a:lnTo>
                    <a:pt x="3793490" y="0"/>
                  </a:lnTo>
                  <a:lnTo>
                    <a:pt x="3793490" y="6350"/>
                  </a:lnTo>
                  <a:lnTo>
                    <a:pt x="3793490" y="0"/>
                  </a:lnTo>
                  <a:cubicBezTo>
                    <a:pt x="3884676" y="0"/>
                    <a:pt x="3958590" y="74041"/>
                    <a:pt x="3958590" y="165354"/>
                  </a:cubicBezTo>
                  <a:lnTo>
                    <a:pt x="3952240" y="165354"/>
                  </a:lnTo>
                  <a:lnTo>
                    <a:pt x="3958590" y="165354"/>
                  </a:lnTo>
                  <a:lnTo>
                    <a:pt x="3958590" y="5665851"/>
                  </a:lnTo>
                  <a:lnTo>
                    <a:pt x="3952240" y="5665851"/>
                  </a:lnTo>
                  <a:lnTo>
                    <a:pt x="3958590" y="5665851"/>
                  </a:lnTo>
                  <a:cubicBezTo>
                    <a:pt x="3958590" y="5757164"/>
                    <a:pt x="3884676" y="5831205"/>
                    <a:pt x="3793490" y="5831205"/>
                  </a:cubicBezTo>
                  <a:lnTo>
                    <a:pt x="3793490" y="5824855"/>
                  </a:lnTo>
                  <a:lnTo>
                    <a:pt x="3793490" y="5831205"/>
                  </a:lnTo>
                  <a:lnTo>
                    <a:pt x="165100" y="5831205"/>
                  </a:lnTo>
                  <a:lnTo>
                    <a:pt x="165100" y="5824855"/>
                  </a:lnTo>
                  <a:lnTo>
                    <a:pt x="165100" y="5831205"/>
                  </a:lnTo>
                  <a:cubicBezTo>
                    <a:pt x="73914" y="5831205"/>
                    <a:pt x="0" y="5757164"/>
                    <a:pt x="0" y="5665851"/>
                  </a:cubicBezTo>
                  <a:lnTo>
                    <a:pt x="0" y="165354"/>
                  </a:lnTo>
                  <a:lnTo>
                    <a:pt x="6350" y="165354"/>
                  </a:lnTo>
                  <a:lnTo>
                    <a:pt x="0" y="165354"/>
                  </a:lnTo>
                  <a:moveTo>
                    <a:pt x="12700" y="165354"/>
                  </a:moveTo>
                  <a:lnTo>
                    <a:pt x="12700" y="5665851"/>
                  </a:lnTo>
                  <a:lnTo>
                    <a:pt x="6350" y="5665851"/>
                  </a:lnTo>
                  <a:lnTo>
                    <a:pt x="12700" y="5665851"/>
                  </a:lnTo>
                  <a:cubicBezTo>
                    <a:pt x="12700" y="5750179"/>
                    <a:pt x="80899" y="5818505"/>
                    <a:pt x="165100" y="5818505"/>
                  </a:cubicBezTo>
                  <a:lnTo>
                    <a:pt x="3793490" y="5818505"/>
                  </a:lnTo>
                  <a:cubicBezTo>
                    <a:pt x="3877691" y="5818505"/>
                    <a:pt x="3945890" y="5750179"/>
                    <a:pt x="3945890" y="5665851"/>
                  </a:cubicBezTo>
                  <a:lnTo>
                    <a:pt x="3945890" y="165354"/>
                  </a:lnTo>
                  <a:cubicBezTo>
                    <a:pt x="3945890" y="81026"/>
                    <a:pt x="3877691" y="12700"/>
                    <a:pt x="3793490" y="12700"/>
                  </a:cubicBezTo>
                  <a:lnTo>
                    <a:pt x="165100" y="12700"/>
                  </a:lnTo>
                  <a:lnTo>
                    <a:pt x="165100" y="6350"/>
                  </a:lnTo>
                  <a:lnTo>
                    <a:pt x="165100" y="12700"/>
                  </a:lnTo>
                  <a:cubicBezTo>
                    <a:pt x="80899" y="12700"/>
                    <a:pt x="12700" y="81026"/>
                    <a:pt x="12700" y="165354"/>
                  </a:cubicBezTo>
                  <a:close/>
                </a:path>
              </a:pathLst>
            </a:custGeom>
            <a:solidFill>
              <a:srgbClr val="C1D6D4"/>
            </a:solidFill>
          </p:spPr>
        </p:sp>
      </p:grpSp>
      <p:sp>
        <p:nvSpPr>
          <p:cNvPr name="TextBox 23" id="23"/>
          <p:cNvSpPr txBox="true"/>
          <p:nvPr/>
        </p:nvSpPr>
        <p:spPr>
          <a:xfrm rot="0">
            <a:off x="7771209" y="4415580"/>
            <a:ext cx="2373363" cy="904875"/>
          </a:xfrm>
          <a:prstGeom prst="rect">
            <a:avLst/>
          </a:prstGeom>
        </p:spPr>
        <p:txBody>
          <a:bodyPr anchor="t" rtlCol="false" tIns="0" lIns="0" bIns="0" rIns="0">
            <a:spAutoFit/>
          </a:bodyPr>
          <a:lstStyle/>
          <a:p>
            <a:pPr algn="l">
              <a:lnSpc>
                <a:spcPts val="3437"/>
              </a:lnSpc>
            </a:pPr>
            <a:r>
              <a:rPr lang="en-US" sz="2750" b="true">
                <a:solidFill>
                  <a:srgbClr val="695D46"/>
                </a:solidFill>
                <a:latin typeface="PT Sans Bold"/>
                <a:ea typeface="PT Sans Bold"/>
                <a:cs typeface="PT Sans Bold"/>
                <a:sym typeface="PT Sans Bold"/>
              </a:rPr>
              <a:t>Automated Analytics</a:t>
            </a:r>
          </a:p>
        </p:txBody>
      </p:sp>
      <p:sp>
        <p:nvSpPr>
          <p:cNvPr name="TextBox 24" id="24"/>
          <p:cNvSpPr txBox="true"/>
          <p:nvPr/>
        </p:nvSpPr>
        <p:spPr>
          <a:xfrm rot="0">
            <a:off x="7771209" y="5404847"/>
            <a:ext cx="2373363" cy="2807494"/>
          </a:xfrm>
          <a:prstGeom prst="rect">
            <a:avLst/>
          </a:prstGeom>
        </p:spPr>
        <p:txBody>
          <a:bodyPr anchor="t" rtlCol="false" tIns="0" lIns="0" bIns="0" rIns="0">
            <a:spAutoFit/>
          </a:bodyPr>
          <a:lstStyle/>
          <a:p>
            <a:pPr algn="l">
              <a:lnSpc>
                <a:spcPts val="3562"/>
              </a:lnSpc>
            </a:pPr>
            <a:r>
              <a:rPr lang="en-US" sz="2187">
                <a:solidFill>
                  <a:srgbClr val="695D46"/>
                </a:solidFill>
                <a:latin typeface="Open Sans"/>
                <a:ea typeface="Open Sans"/>
                <a:cs typeface="Open Sans"/>
                <a:sym typeface="Open Sans"/>
              </a:rPr>
              <a:t>Grade calculation, distribution, and class-level performance metrics.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6E6E6"/>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890435" y="699497"/>
            <a:ext cx="9449095" cy="607514"/>
          </a:xfrm>
          <a:prstGeom prst="rect">
            <a:avLst/>
          </a:prstGeom>
        </p:spPr>
        <p:txBody>
          <a:bodyPr anchor="t" rtlCol="false" tIns="0" lIns="0" bIns="0" rIns="0">
            <a:spAutoFit/>
          </a:bodyPr>
          <a:lstStyle/>
          <a:p>
            <a:pPr algn="l">
              <a:lnSpc>
                <a:spcPts val="4687"/>
              </a:lnSpc>
            </a:pPr>
            <a:r>
              <a:rPr lang="en-US" sz="3749" b="true">
                <a:solidFill>
                  <a:srgbClr val="EF6C00"/>
                </a:solidFill>
                <a:latin typeface="PT Sans Bold"/>
                <a:ea typeface="PT Sans Bold"/>
                <a:cs typeface="PT Sans Bold"/>
                <a:sym typeface="PT Sans Bold"/>
              </a:rPr>
              <a:t>Individual Contribution — Implementation &amp; Algorithms</a:t>
            </a:r>
          </a:p>
        </p:txBody>
      </p:sp>
      <p:sp>
        <p:nvSpPr>
          <p:cNvPr name="TextBox 7" id="7"/>
          <p:cNvSpPr txBox="true"/>
          <p:nvPr/>
        </p:nvSpPr>
        <p:spPr>
          <a:xfrm rot="0">
            <a:off x="890435" y="1663008"/>
            <a:ext cx="16506977" cy="400345"/>
          </a:xfrm>
          <a:prstGeom prst="rect">
            <a:avLst/>
          </a:prstGeom>
        </p:spPr>
        <p:txBody>
          <a:bodyPr anchor="t" rtlCol="false" tIns="0" lIns="0" bIns="0" rIns="0">
            <a:spAutoFit/>
          </a:bodyPr>
          <a:lstStyle/>
          <a:p>
            <a:pPr algn="l">
              <a:lnSpc>
                <a:spcPts val="2749"/>
              </a:lnSpc>
            </a:pPr>
            <a:r>
              <a:rPr lang="en-US" sz="1874">
                <a:solidFill>
                  <a:srgbClr val="695D46"/>
                </a:solidFill>
                <a:latin typeface="Open Sans"/>
                <a:ea typeface="Open Sans"/>
                <a:cs typeface="Open Sans"/>
                <a:sym typeface="Open Sans"/>
              </a:rPr>
              <a:t>Name: [Your Name] — Responsible for core system design and implementation.</a:t>
            </a:r>
          </a:p>
        </p:txBody>
      </p:sp>
      <p:sp>
        <p:nvSpPr>
          <p:cNvPr name="TextBox 8" id="8"/>
          <p:cNvSpPr txBox="true"/>
          <p:nvPr/>
        </p:nvSpPr>
        <p:spPr>
          <a:xfrm rot="0">
            <a:off x="890435" y="4352630"/>
            <a:ext cx="2990402" cy="392754"/>
          </a:xfrm>
          <a:prstGeom prst="rect">
            <a:avLst/>
          </a:prstGeom>
        </p:spPr>
        <p:txBody>
          <a:bodyPr anchor="t" rtlCol="false" tIns="0" lIns="0" bIns="0" rIns="0">
            <a:spAutoFit/>
          </a:bodyPr>
          <a:lstStyle/>
          <a:p>
            <a:pPr algn="l">
              <a:lnSpc>
                <a:spcPts val="2937"/>
              </a:lnSpc>
            </a:pPr>
            <a:r>
              <a:rPr lang="en-US" sz="2312" b="true">
                <a:solidFill>
                  <a:srgbClr val="EF6C00"/>
                </a:solidFill>
                <a:latin typeface="PT Sans Bold"/>
                <a:ea typeface="PT Sans Bold"/>
                <a:cs typeface="PT Sans Bold"/>
                <a:sym typeface="PT Sans Bold"/>
              </a:rPr>
              <a:t>Key Tasks</a:t>
            </a:r>
          </a:p>
        </p:txBody>
      </p:sp>
      <p:sp>
        <p:nvSpPr>
          <p:cNvPr name="TextBox 9" id="9"/>
          <p:cNvSpPr txBox="true"/>
          <p:nvPr/>
        </p:nvSpPr>
        <p:spPr>
          <a:xfrm rot="0">
            <a:off x="890435" y="4899574"/>
            <a:ext cx="5397998" cy="2728322"/>
          </a:xfrm>
          <a:prstGeom prst="rect">
            <a:avLst/>
          </a:prstGeom>
        </p:spPr>
        <p:txBody>
          <a:bodyPr anchor="t" rtlCol="false" tIns="0" lIns="0" bIns="0" rIns="0">
            <a:spAutoFit/>
          </a:bodyPr>
          <a:lstStyle/>
          <a:p>
            <a:pPr algn="l" marL="282773" indent="-141387" lvl="1">
              <a:lnSpc>
                <a:spcPts val="2749"/>
              </a:lnSpc>
              <a:buFont typeface="Arial"/>
              <a:buChar char="•"/>
            </a:pPr>
            <a:r>
              <a:rPr lang="en-US" sz="1874">
                <a:solidFill>
                  <a:srgbClr val="695D46"/>
                </a:solidFill>
                <a:latin typeface="Open Sans"/>
                <a:ea typeface="Open Sans"/>
                <a:cs typeface="Open Sans"/>
                <a:sym typeface="Open Sans"/>
              </a:rPr>
              <a:t>Design and implement Student struct with dynamic memory for names.</a:t>
            </a:r>
          </a:p>
          <a:p>
            <a:pPr algn="l" marL="282773" indent="-141387" lvl="1">
              <a:lnSpc>
                <a:spcPts val="2749"/>
              </a:lnSpc>
              <a:buFont typeface="Arial"/>
              <a:buChar char="•"/>
            </a:pPr>
            <a:r>
              <a:rPr lang="en-US" sz="1874">
                <a:solidFill>
                  <a:srgbClr val="695D46"/>
                </a:solidFill>
                <a:latin typeface="Open Sans"/>
                <a:ea typeface="Open Sans"/>
                <a:cs typeface="Open Sans"/>
                <a:sym typeface="Open Sans"/>
              </a:rPr>
              <a:t>qsort-based sorting for rank and performance reports.</a:t>
            </a:r>
          </a:p>
          <a:p>
            <a:pPr algn="l" marL="282773" indent="-141387" lvl="1">
              <a:lnSpc>
                <a:spcPts val="2749"/>
              </a:lnSpc>
              <a:buFont typeface="Arial"/>
              <a:buChar char="•"/>
            </a:pPr>
            <a:r>
              <a:rPr lang="en-US" sz="1874">
                <a:solidFill>
                  <a:srgbClr val="695D46"/>
                </a:solidFill>
                <a:latin typeface="Open Sans"/>
                <a:ea typeface="Open Sans"/>
                <a:cs typeface="Open Sans"/>
                <a:sym typeface="Open Sans"/>
              </a:rPr>
              <a:t>malloc/free usage with careful bounds checking.</a:t>
            </a:r>
          </a:p>
          <a:p>
            <a:pPr algn="l" marL="282773" indent="-141387" lvl="1">
              <a:lnSpc>
                <a:spcPts val="2749"/>
              </a:lnSpc>
              <a:buFont typeface="Arial"/>
              <a:buChar char="•"/>
            </a:pPr>
            <a:r>
              <a:rPr lang="en-US" sz="1874">
                <a:solidFill>
                  <a:srgbClr val="695D46"/>
                </a:solidFill>
                <a:latin typeface="Open Sans"/>
                <a:ea typeface="Open Sans"/>
                <a:cs typeface="Open Sans"/>
                <a:sym typeface="Open Sans"/>
              </a:rPr>
              <a:t>roll_exists() to prevent duplicate entries.</a:t>
            </a:r>
          </a:p>
        </p:txBody>
      </p:sp>
      <p:grpSp>
        <p:nvGrpSpPr>
          <p:cNvPr name="Group 10" id="10"/>
          <p:cNvGrpSpPr/>
          <p:nvPr/>
        </p:nvGrpSpPr>
        <p:grpSpPr>
          <a:xfrm rot="0">
            <a:off x="6881660" y="2517277"/>
            <a:ext cx="10525125" cy="6833740"/>
            <a:chOff x="0" y="0"/>
            <a:chExt cx="14033500" cy="9111653"/>
          </a:xfrm>
        </p:grpSpPr>
        <p:sp>
          <p:nvSpPr>
            <p:cNvPr name="Freeform 11" id="11" descr="preencoded.png"/>
            <p:cNvSpPr/>
            <p:nvPr/>
          </p:nvSpPr>
          <p:spPr>
            <a:xfrm flipH="false" flipV="false" rot="0">
              <a:off x="0" y="0"/>
              <a:ext cx="14033500" cy="9111615"/>
            </a:xfrm>
            <a:custGeom>
              <a:avLst/>
              <a:gdLst/>
              <a:ahLst/>
              <a:cxnLst/>
              <a:rect r="r" b="b" t="t" l="l"/>
              <a:pathLst>
                <a:path h="9111615" w="14033500">
                  <a:moveTo>
                    <a:pt x="0" y="0"/>
                  </a:moveTo>
                  <a:lnTo>
                    <a:pt x="14033500" y="0"/>
                  </a:lnTo>
                  <a:lnTo>
                    <a:pt x="14033500" y="9111615"/>
                  </a:lnTo>
                  <a:lnTo>
                    <a:pt x="0" y="9111615"/>
                  </a:lnTo>
                  <a:lnTo>
                    <a:pt x="0" y="0"/>
                  </a:lnTo>
                  <a:close/>
                </a:path>
              </a:pathLst>
            </a:custGeom>
            <a:blipFill>
              <a:blip r:embed="rId3"/>
              <a:stretch>
                <a:fillRect l="-31" t="0" r="-31" b="0"/>
              </a:stretch>
            </a:blip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6E6E6"/>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992238" y="3390005"/>
            <a:ext cx="8315173" cy="727767"/>
          </a:xfrm>
          <a:prstGeom prst="rect">
            <a:avLst/>
          </a:prstGeom>
        </p:spPr>
        <p:txBody>
          <a:bodyPr anchor="t" rtlCol="false" tIns="0" lIns="0" bIns="0" rIns="0">
            <a:spAutoFit/>
          </a:bodyPr>
          <a:lstStyle/>
          <a:p>
            <a:pPr algn="l">
              <a:lnSpc>
                <a:spcPts val="5562"/>
              </a:lnSpc>
            </a:pPr>
            <a:r>
              <a:rPr lang="en-US" sz="4437" b="true">
                <a:solidFill>
                  <a:srgbClr val="EF6C00"/>
                </a:solidFill>
                <a:latin typeface="PT Sans Bold"/>
                <a:ea typeface="PT Sans Bold"/>
                <a:cs typeface="PT Sans Bold"/>
                <a:sym typeface="PT Sans Bold"/>
              </a:rPr>
              <a:t>Literature Survey — Sources &amp; Takeaways</a:t>
            </a:r>
          </a:p>
        </p:txBody>
      </p:sp>
      <p:grpSp>
        <p:nvGrpSpPr>
          <p:cNvPr name="Group 7" id="7"/>
          <p:cNvGrpSpPr/>
          <p:nvPr/>
        </p:nvGrpSpPr>
        <p:grpSpPr>
          <a:xfrm rot="0">
            <a:off x="992238" y="4684814"/>
            <a:ext cx="1754391" cy="2192979"/>
            <a:chOff x="0" y="0"/>
            <a:chExt cx="2339188" cy="2923972"/>
          </a:xfrm>
        </p:grpSpPr>
        <p:sp>
          <p:nvSpPr>
            <p:cNvPr name="Freeform 8" id="8" descr="preencoded.png"/>
            <p:cNvSpPr/>
            <p:nvPr/>
          </p:nvSpPr>
          <p:spPr>
            <a:xfrm flipH="false" flipV="false" rot="0">
              <a:off x="0" y="0"/>
              <a:ext cx="2339213" cy="2923921"/>
            </a:xfrm>
            <a:custGeom>
              <a:avLst/>
              <a:gdLst/>
              <a:ahLst/>
              <a:cxnLst/>
              <a:rect r="r" b="b" t="t" l="l"/>
              <a:pathLst>
                <a:path h="2923921" w="2339213">
                  <a:moveTo>
                    <a:pt x="0" y="0"/>
                  </a:moveTo>
                  <a:lnTo>
                    <a:pt x="2339213" y="0"/>
                  </a:lnTo>
                  <a:lnTo>
                    <a:pt x="2339213" y="2923921"/>
                  </a:lnTo>
                  <a:lnTo>
                    <a:pt x="0" y="2923921"/>
                  </a:lnTo>
                  <a:lnTo>
                    <a:pt x="0" y="0"/>
                  </a:lnTo>
                  <a:close/>
                </a:path>
              </a:pathLst>
            </a:custGeom>
            <a:blipFill>
              <a:blip r:embed="rId3"/>
              <a:stretch>
                <a:fillRect l="0" t="0" r="1" b="-1"/>
              </a:stretch>
            </a:blipFill>
          </p:spPr>
        </p:sp>
      </p:grpSp>
      <p:sp>
        <p:nvSpPr>
          <p:cNvPr name="TextBox 9" id="9"/>
          <p:cNvSpPr txBox="true"/>
          <p:nvPr/>
        </p:nvSpPr>
        <p:spPr>
          <a:xfrm rot="0">
            <a:off x="3100978" y="4665764"/>
            <a:ext cx="4352925" cy="461962"/>
          </a:xfrm>
          <a:prstGeom prst="rect">
            <a:avLst/>
          </a:prstGeom>
        </p:spPr>
        <p:txBody>
          <a:bodyPr anchor="t" rtlCol="false" tIns="0" lIns="0" bIns="0" rIns="0">
            <a:spAutoFit/>
          </a:bodyPr>
          <a:lstStyle/>
          <a:p>
            <a:pPr algn="l">
              <a:lnSpc>
                <a:spcPts val="3437"/>
              </a:lnSpc>
            </a:pPr>
            <a:r>
              <a:rPr lang="en-US" sz="2750" b="true">
                <a:solidFill>
                  <a:srgbClr val="695D46"/>
                </a:solidFill>
                <a:latin typeface="PT Sans Bold"/>
                <a:ea typeface="PT Sans Bold"/>
                <a:cs typeface="PT Sans Bold"/>
                <a:sym typeface="PT Sans Bold"/>
              </a:rPr>
              <a:t>Ref [1]: Standard C Documentation</a:t>
            </a:r>
          </a:p>
        </p:txBody>
      </p:sp>
      <p:sp>
        <p:nvSpPr>
          <p:cNvPr name="TextBox 10" id="10"/>
          <p:cNvSpPr txBox="true"/>
          <p:nvPr/>
        </p:nvSpPr>
        <p:spPr>
          <a:xfrm rot="0">
            <a:off x="3100978" y="5212109"/>
            <a:ext cx="5865762" cy="1446609"/>
          </a:xfrm>
          <a:prstGeom prst="rect">
            <a:avLst/>
          </a:prstGeom>
        </p:spPr>
        <p:txBody>
          <a:bodyPr anchor="t" rtlCol="false" tIns="0" lIns="0" bIns="0" rIns="0">
            <a:spAutoFit/>
          </a:bodyPr>
          <a:lstStyle/>
          <a:p>
            <a:pPr algn="l">
              <a:lnSpc>
                <a:spcPts val="3562"/>
              </a:lnSpc>
            </a:pPr>
            <a:r>
              <a:rPr lang="en-US" sz="2187">
                <a:solidFill>
                  <a:srgbClr val="695D46"/>
                </a:solidFill>
                <a:latin typeface="Open Sans"/>
                <a:ea typeface="Open Sans"/>
                <a:cs typeface="Open Sans"/>
                <a:sym typeface="Open Sans"/>
              </a:rPr>
              <a:t>Provided authoritative examples for file I/O and formatted parsing (sscanf), enabling reliable CSV handling.</a:t>
            </a:r>
          </a:p>
        </p:txBody>
      </p:sp>
      <p:grpSp>
        <p:nvGrpSpPr>
          <p:cNvPr name="Group 11" id="11"/>
          <p:cNvGrpSpPr/>
          <p:nvPr/>
        </p:nvGrpSpPr>
        <p:grpSpPr>
          <a:xfrm rot="0">
            <a:off x="9321108" y="4684814"/>
            <a:ext cx="1754391" cy="2192979"/>
            <a:chOff x="0" y="0"/>
            <a:chExt cx="2339188" cy="2923972"/>
          </a:xfrm>
        </p:grpSpPr>
        <p:sp>
          <p:nvSpPr>
            <p:cNvPr name="Freeform 12" id="12" descr="preencoded.png"/>
            <p:cNvSpPr/>
            <p:nvPr/>
          </p:nvSpPr>
          <p:spPr>
            <a:xfrm flipH="false" flipV="false" rot="0">
              <a:off x="0" y="0"/>
              <a:ext cx="2339213" cy="2923921"/>
            </a:xfrm>
            <a:custGeom>
              <a:avLst/>
              <a:gdLst/>
              <a:ahLst/>
              <a:cxnLst/>
              <a:rect r="r" b="b" t="t" l="l"/>
              <a:pathLst>
                <a:path h="2923921" w="2339213">
                  <a:moveTo>
                    <a:pt x="0" y="0"/>
                  </a:moveTo>
                  <a:lnTo>
                    <a:pt x="2339213" y="0"/>
                  </a:lnTo>
                  <a:lnTo>
                    <a:pt x="2339213" y="2923921"/>
                  </a:lnTo>
                  <a:lnTo>
                    <a:pt x="0" y="2923921"/>
                  </a:lnTo>
                  <a:lnTo>
                    <a:pt x="0" y="0"/>
                  </a:lnTo>
                  <a:close/>
                </a:path>
              </a:pathLst>
            </a:custGeom>
            <a:blipFill>
              <a:blip r:embed="rId4"/>
              <a:stretch>
                <a:fillRect l="0" t="0" r="1" b="-1"/>
              </a:stretch>
            </a:blipFill>
          </p:spPr>
        </p:sp>
      </p:grpSp>
      <p:sp>
        <p:nvSpPr>
          <p:cNvPr name="TextBox 13" id="13"/>
          <p:cNvSpPr txBox="true"/>
          <p:nvPr/>
        </p:nvSpPr>
        <p:spPr>
          <a:xfrm rot="0">
            <a:off x="11429848" y="4665764"/>
            <a:ext cx="3821011" cy="461962"/>
          </a:xfrm>
          <a:prstGeom prst="rect">
            <a:avLst/>
          </a:prstGeom>
        </p:spPr>
        <p:txBody>
          <a:bodyPr anchor="t" rtlCol="false" tIns="0" lIns="0" bIns="0" rIns="0">
            <a:spAutoFit/>
          </a:bodyPr>
          <a:lstStyle/>
          <a:p>
            <a:pPr algn="l">
              <a:lnSpc>
                <a:spcPts val="3437"/>
              </a:lnSpc>
            </a:pPr>
            <a:r>
              <a:rPr lang="en-US" sz="2750" b="true">
                <a:solidFill>
                  <a:srgbClr val="695D46"/>
                </a:solidFill>
                <a:latin typeface="PT Sans Bold"/>
                <a:ea typeface="PT Sans Bold"/>
                <a:cs typeface="PT Sans Bold"/>
                <a:sym typeface="PT Sans Bold"/>
              </a:rPr>
              <a:t>Ref [2]: Modular Programming</a:t>
            </a:r>
          </a:p>
        </p:txBody>
      </p:sp>
      <p:sp>
        <p:nvSpPr>
          <p:cNvPr name="TextBox 14" id="14"/>
          <p:cNvSpPr txBox="true"/>
          <p:nvPr/>
        </p:nvSpPr>
        <p:spPr>
          <a:xfrm rot="0">
            <a:off x="11429848" y="5212109"/>
            <a:ext cx="5865914" cy="1446609"/>
          </a:xfrm>
          <a:prstGeom prst="rect">
            <a:avLst/>
          </a:prstGeom>
        </p:spPr>
        <p:txBody>
          <a:bodyPr anchor="t" rtlCol="false" tIns="0" lIns="0" bIns="0" rIns="0">
            <a:spAutoFit/>
          </a:bodyPr>
          <a:lstStyle/>
          <a:p>
            <a:pPr algn="l">
              <a:lnSpc>
                <a:spcPts val="3562"/>
              </a:lnSpc>
            </a:pPr>
            <a:r>
              <a:rPr lang="en-US" sz="2187">
                <a:solidFill>
                  <a:srgbClr val="695D46"/>
                </a:solidFill>
                <a:latin typeface="Open Sans"/>
                <a:ea typeface="Open Sans"/>
                <a:cs typeface="Open Sans"/>
                <a:sym typeface="Open Sans"/>
              </a:rPr>
              <a:t>Guided function decomposition and menu-driven architecture for maintainability and testability.</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6E6E6"/>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grpSp>
        <p:nvGrpSpPr>
          <p:cNvPr name="Group 6" id="6"/>
          <p:cNvGrpSpPr/>
          <p:nvPr/>
        </p:nvGrpSpPr>
        <p:grpSpPr>
          <a:xfrm rot="0">
            <a:off x="0" y="0"/>
            <a:ext cx="6858000" cy="10287000"/>
            <a:chOff x="0" y="0"/>
            <a:chExt cx="9144000" cy="13716000"/>
          </a:xfrm>
        </p:grpSpPr>
        <p:sp>
          <p:nvSpPr>
            <p:cNvPr name="Freeform 7" id="7"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3"/>
              <a:stretch>
                <a:fillRect l="0" t="0" r="0" b="0"/>
              </a:stretch>
            </a:blipFill>
          </p:spPr>
        </p:sp>
      </p:grpSp>
      <p:sp>
        <p:nvSpPr>
          <p:cNvPr name="TextBox 8" id="8"/>
          <p:cNvSpPr txBox="true"/>
          <p:nvPr/>
        </p:nvSpPr>
        <p:spPr>
          <a:xfrm rot="0">
            <a:off x="7741739" y="709765"/>
            <a:ext cx="7400925" cy="650234"/>
          </a:xfrm>
          <a:prstGeom prst="rect">
            <a:avLst/>
          </a:prstGeom>
        </p:spPr>
        <p:txBody>
          <a:bodyPr anchor="t" rtlCol="false" tIns="0" lIns="0" bIns="0" rIns="0">
            <a:spAutoFit/>
          </a:bodyPr>
          <a:lstStyle/>
          <a:p>
            <a:pPr algn="l">
              <a:lnSpc>
                <a:spcPts val="4937"/>
              </a:lnSpc>
            </a:pPr>
            <a:r>
              <a:rPr lang="en-US" sz="3937" b="true">
                <a:solidFill>
                  <a:srgbClr val="EF6C00"/>
                </a:solidFill>
                <a:latin typeface="PT Sans Bold"/>
                <a:ea typeface="PT Sans Bold"/>
                <a:cs typeface="PT Sans Bold"/>
                <a:sym typeface="PT Sans Bold"/>
              </a:rPr>
              <a:t>Proposed System — Design &amp; Data Model</a:t>
            </a:r>
          </a:p>
        </p:txBody>
      </p:sp>
      <p:sp>
        <p:nvSpPr>
          <p:cNvPr name="TextBox 9" id="9"/>
          <p:cNvSpPr txBox="true"/>
          <p:nvPr/>
        </p:nvSpPr>
        <p:spPr>
          <a:xfrm rot="0">
            <a:off x="7741739" y="1621041"/>
            <a:ext cx="9662522" cy="1221877"/>
          </a:xfrm>
          <a:prstGeom prst="rect">
            <a:avLst/>
          </a:prstGeom>
        </p:spPr>
        <p:txBody>
          <a:bodyPr anchor="t" rtlCol="false" tIns="0" lIns="0" bIns="0" rIns="0">
            <a:spAutoFit/>
          </a:bodyPr>
          <a:lstStyle/>
          <a:p>
            <a:pPr algn="l">
              <a:lnSpc>
                <a:spcPts val="3000"/>
              </a:lnSpc>
            </a:pPr>
            <a:r>
              <a:rPr lang="en-US" sz="1937">
                <a:solidFill>
                  <a:srgbClr val="695D46"/>
                </a:solidFill>
                <a:latin typeface="Open Sans"/>
                <a:ea typeface="Open Sans"/>
                <a:cs typeface="Open Sans"/>
                <a:sym typeface="Open Sans"/>
              </a:rPr>
              <a:t>Multi-module CLI application. Central Student struct encapsulates roll (int), name (char[] up to 32), and marks[5] (float). Modular separation: I/O, validation, analytics, and reporting.</a:t>
            </a:r>
          </a:p>
        </p:txBody>
      </p:sp>
      <p:grpSp>
        <p:nvGrpSpPr>
          <p:cNvPr name="Group 10" id="10"/>
          <p:cNvGrpSpPr/>
          <p:nvPr/>
        </p:nvGrpSpPr>
        <p:grpSpPr>
          <a:xfrm rot="0">
            <a:off x="7741739" y="3095920"/>
            <a:ext cx="9662522" cy="5445328"/>
            <a:chOff x="0" y="0"/>
            <a:chExt cx="12883363" cy="7260438"/>
          </a:xfrm>
        </p:grpSpPr>
        <p:sp>
          <p:nvSpPr>
            <p:cNvPr name="Freeform 11" id="11" descr="preencoded.png"/>
            <p:cNvSpPr/>
            <p:nvPr/>
          </p:nvSpPr>
          <p:spPr>
            <a:xfrm flipH="false" flipV="false" rot="0">
              <a:off x="0" y="0"/>
              <a:ext cx="12883388" cy="7260463"/>
            </a:xfrm>
            <a:custGeom>
              <a:avLst/>
              <a:gdLst/>
              <a:ahLst/>
              <a:cxnLst/>
              <a:rect r="r" b="b" t="t" l="l"/>
              <a:pathLst>
                <a:path h="7260463" w="12883388">
                  <a:moveTo>
                    <a:pt x="0" y="0"/>
                  </a:moveTo>
                  <a:lnTo>
                    <a:pt x="12883388" y="0"/>
                  </a:lnTo>
                  <a:lnTo>
                    <a:pt x="12883388" y="7260463"/>
                  </a:lnTo>
                  <a:lnTo>
                    <a:pt x="0" y="7260463"/>
                  </a:lnTo>
                  <a:lnTo>
                    <a:pt x="0" y="0"/>
                  </a:lnTo>
                  <a:close/>
                </a:path>
              </a:pathLst>
            </a:custGeom>
            <a:blipFill>
              <a:blip r:embed="rId4"/>
              <a:stretch>
                <a:fillRect l="0" t="-48" r="0" b="-48"/>
              </a:stretch>
            </a:blipFill>
          </p:spPr>
        </p:sp>
      </p:grpSp>
      <p:sp>
        <p:nvSpPr>
          <p:cNvPr name="TextBox 12" id="12"/>
          <p:cNvSpPr txBox="true"/>
          <p:nvPr/>
        </p:nvSpPr>
        <p:spPr>
          <a:xfrm rot="0">
            <a:off x="7970387" y="3558226"/>
            <a:ext cx="1789595" cy="277254"/>
          </a:xfrm>
          <a:prstGeom prst="rect">
            <a:avLst/>
          </a:prstGeom>
        </p:spPr>
        <p:txBody>
          <a:bodyPr anchor="t" rtlCol="false" tIns="0" lIns="0" bIns="0" rIns="0">
            <a:spAutoFit/>
          </a:bodyPr>
          <a:lstStyle/>
          <a:p>
            <a:pPr algn="r">
              <a:lnSpc>
                <a:spcPts val="2062"/>
              </a:lnSpc>
            </a:pPr>
            <a:r>
              <a:rPr lang="en-US" sz="1625" b="true">
                <a:solidFill>
                  <a:srgbClr val="695D46"/>
                </a:solidFill>
                <a:latin typeface="PT Sans Bold"/>
                <a:ea typeface="PT Sans Bold"/>
                <a:cs typeface="PT Sans Bold"/>
                <a:sym typeface="PT Sans Bold"/>
              </a:rPr>
              <a:t>Data Model</a:t>
            </a:r>
          </a:p>
        </p:txBody>
      </p:sp>
      <p:sp>
        <p:nvSpPr>
          <p:cNvPr name="TextBox 13" id="13"/>
          <p:cNvSpPr txBox="true"/>
          <p:nvPr/>
        </p:nvSpPr>
        <p:spPr>
          <a:xfrm rot="0">
            <a:off x="7970387" y="3911632"/>
            <a:ext cx="1789595" cy="404860"/>
          </a:xfrm>
          <a:prstGeom prst="rect">
            <a:avLst/>
          </a:prstGeom>
        </p:spPr>
        <p:txBody>
          <a:bodyPr anchor="t" rtlCol="false" tIns="0" lIns="0" bIns="0" rIns="0">
            <a:spAutoFit/>
          </a:bodyPr>
          <a:lstStyle/>
          <a:p>
            <a:pPr algn="r">
              <a:lnSpc>
                <a:spcPts val="1562"/>
              </a:lnSpc>
            </a:pPr>
            <a:r>
              <a:rPr lang="en-US" sz="1312">
                <a:solidFill>
                  <a:srgbClr val="695D46"/>
                </a:solidFill>
                <a:latin typeface="Open Sans"/>
                <a:ea typeface="Open Sans"/>
                <a:cs typeface="Open Sans"/>
                <a:sym typeface="Open Sans"/>
              </a:rPr>
              <a:t>Student struct: roll, name, marks</a:t>
            </a:r>
          </a:p>
        </p:txBody>
      </p:sp>
      <p:sp>
        <p:nvSpPr>
          <p:cNvPr name="TextBox 14" id="14"/>
          <p:cNvSpPr txBox="true"/>
          <p:nvPr/>
        </p:nvSpPr>
        <p:spPr>
          <a:xfrm rot="0">
            <a:off x="15395305" y="3558226"/>
            <a:ext cx="1780080" cy="277254"/>
          </a:xfrm>
          <a:prstGeom prst="rect">
            <a:avLst/>
          </a:prstGeom>
        </p:spPr>
        <p:txBody>
          <a:bodyPr anchor="t" rtlCol="false" tIns="0" lIns="0" bIns="0" rIns="0">
            <a:spAutoFit/>
          </a:bodyPr>
          <a:lstStyle/>
          <a:p>
            <a:pPr algn="l">
              <a:lnSpc>
                <a:spcPts val="2062"/>
              </a:lnSpc>
            </a:pPr>
            <a:r>
              <a:rPr lang="en-US" sz="1625" b="true">
                <a:solidFill>
                  <a:srgbClr val="695D46"/>
                </a:solidFill>
                <a:latin typeface="PT Sans Bold"/>
                <a:ea typeface="PT Sans Bold"/>
                <a:cs typeface="PT Sans Bold"/>
                <a:sym typeface="PT Sans Bold"/>
              </a:rPr>
              <a:t>File I/O</a:t>
            </a:r>
          </a:p>
        </p:txBody>
      </p:sp>
      <p:sp>
        <p:nvSpPr>
          <p:cNvPr name="TextBox 15" id="15"/>
          <p:cNvSpPr txBox="true"/>
          <p:nvPr/>
        </p:nvSpPr>
        <p:spPr>
          <a:xfrm rot="0">
            <a:off x="15395305" y="3911632"/>
            <a:ext cx="1780080" cy="404860"/>
          </a:xfrm>
          <a:prstGeom prst="rect">
            <a:avLst/>
          </a:prstGeom>
        </p:spPr>
        <p:txBody>
          <a:bodyPr anchor="t" rtlCol="false" tIns="0" lIns="0" bIns="0" rIns="0">
            <a:spAutoFit/>
          </a:bodyPr>
          <a:lstStyle/>
          <a:p>
            <a:pPr algn="l">
              <a:lnSpc>
                <a:spcPts val="1562"/>
              </a:lnSpc>
            </a:pPr>
            <a:r>
              <a:rPr lang="en-US" sz="1312">
                <a:solidFill>
                  <a:srgbClr val="695D46"/>
                </a:solidFill>
                <a:latin typeface="Open Sans"/>
                <a:ea typeface="Open Sans"/>
                <a:cs typeface="Open Sans"/>
                <a:sym typeface="Open Sans"/>
              </a:rPr>
              <a:t>Persistent read/write of student files</a:t>
            </a:r>
          </a:p>
        </p:txBody>
      </p:sp>
      <p:sp>
        <p:nvSpPr>
          <p:cNvPr name="TextBox 16" id="16"/>
          <p:cNvSpPr txBox="true"/>
          <p:nvPr/>
        </p:nvSpPr>
        <p:spPr>
          <a:xfrm rot="0">
            <a:off x="8037166" y="7292997"/>
            <a:ext cx="1722958" cy="277254"/>
          </a:xfrm>
          <a:prstGeom prst="rect">
            <a:avLst/>
          </a:prstGeom>
        </p:spPr>
        <p:txBody>
          <a:bodyPr anchor="t" rtlCol="false" tIns="0" lIns="0" bIns="0" rIns="0">
            <a:spAutoFit/>
          </a:bodyPr>
          <a:lstStyle/>
          <a:p>
            <a:pPr algn="r">
              <a:lnSpc>
                <a:spcPts val="2062"/>
              </a:lnSpc>
            </a:pPr>
            <a:r>
              <a:rPr lang="en-US" sz="1625" b="true">
                <a:solidFill>
                  <a:srgbClr val="695D46"/>
                </a:solidFill>
                <a:latin typeface="PT Sans Bold"/>
                <a:ea typeface="PT Sans Bold"/>
                <a:cs typeface="PT Sans Bold"/>
                <a:sym typeface="PT Sans Bold"/>
              </a:rPr>
              <a:t>CRUD</a:t>
            </a:r>
          </a:p>
        </p:txBody>
      </p:sp>
      <p:sp>
        <p:nvSpPr>
          <p:cNvPr name="TextBox 17" id="17"/>
          <p:cNvSpPr txBox="true"/>
          <p:nvPr/>
        </p:nvSpPr>
        <p:spPr>
          <a:xfrm rot="0">
            <a:off x="8037166" y="7646394"/>
            <a:ext cx="1722958" cy="404860"/>
          </a:xfrm>
          <a:prstGeom prst="rect">
            <a:avLst/>
          </a:prstGeom>
        </p:spPr>
        <p:txBody>
          <a:bodyPr anchor="t" rtlCol="false" tIns="0" lIns="0" bIns="0" rIns="0">
            <a:spAutoFit/>
          </a:bodyPr>
          <a:lstStyle/>
          <a:p>
            <a:pPr algn="r">
              <a:lnSpc>
                <a:spcPts val="1562"/>
              </a:lnSpc>
            </a:pPr>
            <a:r>
              <a:rPr lang="en-US" sz="1312">
                <a:solidFill>
                  <a:srgbClr val="695D46"/>
                </a:solidFill>
                <a:latin typeface="Open Sans"/>
                <a:ea typeface="Open Sans"/>
                <a:cs typeface="Open Sans"/>
                <a:sym typeface="Open Sans"/>
              </a:rPr>
              <a:t>Create, read, update, delete records</a:t>
            </a:r>
          </a:p>
        </p:txBody>
      </p:sp>
      <p:sp>
        <p:nvSpPr>
          <p:cNvPr name="TextBox 18" id="18"/>
          <p:cNvSpPr txBox="true"/>
          <p:nvPr/>
        </p:nvSpPr>
        <p:spPr>
          <a:xfrm rot="0">
            <a:off x="15338184" y="7292997"/>
            <a:ext cx="1837192" cy="277254"/>
          </a:xfrm>
          <a:prstGeom prst="rect">
            <a:avLst/>
          </a:prstGeom>
        </p:spPr>
        <p:txBody>
          <a:bodyPr anchor="t" rtlCol="false" tIns="0" lIns="0" bIns="0" rIns="0">
            <a:spAutoFit/>
          </a:bodyPr>
          <a:lstStyle/>
          <a:p>
            <a:pPr algn="l">
              <a:lnSpc>
                <a:spcPts val="2062"/>
              </a:lnSpc>
            </a:pPr>
            <a:r>
              <a:rPr lang="en-US" sz="1625" b="true">
                <a:solidFill>
                  <a:srgbClr val="695D46"/>
                </a:solidFill>
                <a:latin typeface="PT Sans Bold"/>
                <a:ea typeface="PT Sans Bold"/>
                <a:cs typeface="PT Sans Bold"/>
                <a:sym typeface="PT Sans Bold"/>
              </a:rPr>
              <a:t>Analytics</a:t>
            </a:r>
          </a:p>
        </p:txBody>
      </p:sp>
      <p:sp>
        <p:nvSpPr>
          <p:cNvPr name="TextBox 19" id="19"/>
          <p:cNvSpPr txBox="true"/>
          <p:nvPr/>
        </p:nvSpPr>
        <p:spPr>
          <a:xfrm rot="0">
            <a:off x="15338184" y="7646394"/>
            <a:ext cx="1837192" cy="404860"/>
          </a:xfrm>
          <a:prstGeom prst="rect">
            <a:avLst/>
          </a:prstGeom>
        </p:spPr>
        <p:txBody>
          <a:bodyPr anchor="t" rtlCol="false" tIns="0" lIns="0" bIns="0" rIns="0">
            <a:spAutoFit/>
          </a:bodyPr>
          <a:lstStyle/>
          <a:p>
            <a:pPr algn="l">
              <a:lnSpc>
                <a:spcPts val="1562"/>
              </a:lnSpc>
            </a:pPr>
            <a:r>
              <a:rPr lang="en-US" sz="1312">
                <a:solidFill>
                  <a:srgbClr val="695D46"/>
                </a:solidFill>
                <a:latin typeface="Open Sans"/>
                <a:ea typeface="Open Sans"/>
                <a:cs typeface="Open Sans"/>
                <a:sym typeface="Open Sans"/>
              </a:rPr>
              <a:t>Compute averages, trends, validations</a:t>
            </a:r>
          </a:p>
        </p:txBody>
      </p:sp>
      <p:sp>
        <p:nvSpPr>
          <p:cNvPr name="TextBox 20" id="20"/>
          <p:cNvSpPr txBox="true"/>
          <p:nvPr/>
        </p:nvSpPr>
        <p:spPr>
          <a:xfrm rot="0">
            <a:off x="7741739" y="8718052"/>
            <a:ext cx="9662522" cy="839991"/>
          </a:xfrm>
          <a:prstGeom prst="rect">
            <a:avLst/>
          </a:prstGeom>
        </p:spPr>
        <p:txBody>
          <a:bodyPr anchor="t" rtlCol="false" tIns="0" lIns="0" bIns="0" rIns="0">
            <a:spAutoFit/>
          </a:bodyPr>
          <a:lstStyle/>
          <a:p>
            <a:pPr algn="l">
              <a:lnSpc>
                <a:spcPts val="3000"/>
              </a:lnSpc>
            </a:pPr>
            <a:r>
              <a:rPr lang="en-US" sz="1937">
                <a:solidFill>
                  <a:srgbClr val="695D46"/>
                </a:solidFill>
                <a:latin typeface="Open Sans"/>
                <a:ea typeface="Open Sans"/>
                <a:cs typeface="Open Sans"/>
                <a:sym typeface="Open Sans"/>
              </a:rPr>
              <a:t>Diagram: Shows modules and directional flow from CSV storage to analytics and report generation.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6E6E6"/>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grpSp>
        <p:nvGrpSpPr>
          <p:cNvPr name="Group 6" id="6"/>
          <p:cNvGrpSpPr/>
          <p:nvPr/>
        </p:nvGrpSpPr>
        <p:grpSpPr>
          <a:xfrm rot="0">
            <a:off x="11980812" y="0"/>
            <a:ext cx="6858000" cy="10287000"/>
            <a:chOff x="0" y="0"/>
            <a:chExt cx="9144000" cy="13716000"/>
          </a:xfrm>
        </p:grpSpPr>
        <p:sp>
          <p:nvSpPr>
            <p:cNvPr name="Freeform 7" id="7"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3"/>
              <a:stretch>
                <a:fillRect l="0" t="0" r="0" b="0"/>
              </a:stretch>
            </a:blipFill>
          </p:spPr>
        </p:sp>
      </p:grpSp>
      <p:sp>
        <p:nvSpPr>
          <p:cNvPr name="TextBox 8" id="8"/>
          <p:cNvSpPr txBox="true"/>
          <p:nvPr/>
        </p:nvSpPr>
        <p:spPr>
          <a:xfrm rot="0">
            <a:off x="992238" y="2316061"/>
            <a:ext cx="7227246" cy="727767"/>
          </a:xfrm>
          <a:prstGeom prst="rect">
            <a:avLst/>
          </a:prstGeom>
        </p:spPr>
        <p:txBody>
          <a:bodyPr anchor="t" rtlCol="false" tIns="0" lIns="0" bIns="0" rIns="0">
            <a:spAutoFit/>
          </a:bodyPr>
          <a:lstStyle/>
          <a:p>
            <a:pPr algn="l">
              <a:lnSpc>
                <a:spcPts val="5562"/>
              </a:lnSpc>
            </a:pPr>
            <a:r>
              <a:rPr lang="en-US" sz="4437" b="true">
                <a:solidFill>
                  <a:srgbClr val="EF6C00"/>
                </a:solidFill>
                <a:latin typeface="PT Sans Bold"/>
                <a:ea typeface="PT Sans Bold"/>
                <a:cs typeface="PT Sans Bold"/>
                <a:sym typeface="PT Sans Bold"/>
              </a:rPr>
              <a:t>Hardware &amp; Software Requirements</a:t>
            </a:r>
          </a:p>
        </p:txBody>
      </p:sp>
      <p:sp>
        <p:nvSpPr>
          <p:cNvPr name="TextBox 9" id="9"/>
          <p:cNvSpPr txBox="true"/>
          <p:nvPr/>
        </p:nvSpPr>
        <p:spPr>
          <a:xfrm rot="0">
            <a:off x="992238" y="3733505"/>
            <a:ext cx="3544043" cy="461962"/>
          </a:xfrm>
          <a:prstGeom prst="rect">
            <a:avLst/>
          </a:prstGeom>
        </p:spPr>
        <p:txBody>
          <a:bodyPr anchor="t" rtlCol="false" tIns="0" lIns="0" bIns="0" rIns="0">
            <a:spAutoFit/>
          </a:bodyPr>
          <a:lstStyle/>
          <a:p>
            <a:pPr algn="l">
              <a:lnSpc>
                <a:spcPts val="3437"/>
              </a:lnSpc>
            </a:pPr>
            <a:r>
              <a:rPr lang="en-US" sz="2750" b="true">
                <a:solidFill>
                  <a:srgbClr val="EF6C00"/>
                </a:solidFill>
                <a:latin typeface="PT Sans Bold"/>
                <a:ea typeface="PT Sans Bold"/>
                <a:cs typeface="PT Sans Bold"/>
                <a:sym typeface="PT Sans Bold"/>
              </a:rPr>
              <a:t>Hardware</a:t>
            </a:r>
          </a:p>
        </p:txBody>
      </p:sp>
      <p:sp>
        <p:nvSpPr>
          <p:cNvPr name="TextBox 10" id="10"/>
          <p:cNvSpPr txBox="true"/>
          <p:nvPr/>
        </p:nvSpPr>
        <p:spPr>
          <a:xfrm rot="0">
            <a:off x="992238" y="4393254"/>
            <a:ext cx="4376890" cy="3459366"/>
          </a:xfrm>
          <a:prstGeom prst="rect">
            <a:avLst/>
          </a:prstGeom>
        </p:spPr>
        <p:txBody>
          <a:bodyPr anchor="t" rtlCol="false" tIns="0" lIns="0" bIns="0" rIns="0">
            <a:spAutoFit/>
          </a:bodyPr>
          <a:lstStyle/>
          <a:p>
            <a:pPr algn="l" marL="329902" indent="-164951" lvl="1">
              <a:lnSpc>
                <a:spcPts val="3562"/>
              </a:lnSpc>
              <a:buFont typeface="Arial"/>
              <a:buChar char="•"/>
            </a:pPr>
            <a:r>
              <a:rPr lang="en-US" sz="2187">
                <a:solidFill>
                  <a:srgbClr val="695D46"/>
                </a:solidFill>
                <a:latin typeface="Open Sans"/>
                <a:ea typeface="Open Sans"/>
                <a:cs typeface="Open Sans"/>
                <a:sym typeface="Open Sans"/>
              </a:rPr>
              <a:t>Standard PC/Laptop — Intel i3/i5 or equivalent</a:t>
            </a:r>
          </a:p>
          <a:p>
            <a:pPr algn="l" marL="329902" indent="-164951" lvl="1">
              <a:lnSpc>
                <a:spcPts val="3562"/>
              </a:lnSpc>
              <a:buFont typeface="Arial"/>
              <a:buChar char="•"/>
            </a:pPr>
            <a:r>
              <a:rPr lang="en-US" sz="2187">
                <a:solidFill>
                  <a:srgbClr val="695D46"/>
                </a:solidFill>
                <a:latin typeface="Open Sans"/>
                <a:ea typeface="Open Sans"/>
                <a:cs typeface="Open Sans"/>
                <a:sym typeface="Open Sans"/>
              </a:rPr>
              <a:t>4GB+ RAM; minimal CPU needs for student-scale datasets</a:t>
            </a:r>
          </a:p>
          <a:p>
            <a:pPr algn="l" marL="329902" indent="-164951" lvl="1">
              <a:lnSpc>
                <a:spcPts val="3562"/>
              </a:lnSpc>
              <a:buFont typeface="Arial"/>
              <a:buChar char="•"/>
            </a:pPr>
            <a:r>
              <a:rPr lang="en-US" sz="2187">
                <a:solidFill>
                  <a:srgbClr val="695D46"/>
                </a:solidFill>
                <a:latin typeface="Open Sans"/>
                <a:ea typeface="Open Sans"/>
                <a:cs typeface="Open Sans"/>
                <a:sym typeface="Open Sans"/>
              </a:rPr>
              <a:t>Reason: Efficient local compilation and testing</a:t>
            </a:r>
          </a:p>
        </p:txBody>
      </p:sp>
      <p:sp>
        <p:nvSpPr>
          <p:cNvPr name="TextBox 11" id="11"/>
          <p:cNvSpPr txBox="true"/>
          <p:nvPr/>
        </p:nvSpPr>
        <p:spPr>
          <a:xfrm rot="0">
            <a:off x="6070397" y="3733505"/>
            <a:ext cx="3544043" cy="461962"/>
          </a:xfrm>
          <a:prstGeom prst="rect">
            <a:avLst/>
          </a:prstGeom>
        </p:spPr>
        <p:txBody>
          <a:bodyPr anchor="t" rtlCol="false" tIns="0" lIns="0" bIns="0" rIns="0">
            <a:spAutoFit/>
          </a:bodyPr>
          <a:lstStyle/>
          <a:p>
            <a:pPr algn="l">
              <a:lnSpc>
                <a:spcPts val="3437"/>
              </a:lnSpc>
            </a:pPr>
            <a:r>
              <a:rPr lang="en-US" sz="2750" b="true">
                <a:solidFill>
                  <a:srgbClr val="EF6C00"/>
                </a:solidFill>
                <a:latin typeface="PT Sans Bold"/>
                <a:ea typeface="PT Sans Bold"/>
                <a:cs typeface="PT Sans Bold"/>
                <a:sym typeface="PT Sans Bold"/>
              </a:rPr>
              <a:t>Software</a:t>
            </a:r>
          </a:p>
        </p:txBody>
      </p:sp>
      <p:sp>
        <p:nvSpPr>
          <p:cNvPr name="TextBox 12" id="12"/>
          <p:cNvSpPr txBox="true"/>
          <p:nvPr/>
        </p:nvSpPr>
        <p:spPr>
          <a:xfrm rot="0">
            <a:off x="6070397" y="4393254"/>
            <a:ext cx="4376890" cy="3005728"/>
          </a:xfrm>
          <a:prstGeom prst="rect">
            <a:avLst/>
          </a:prstGeom>
        </p:spPr>
        <p:txBody>
          <a:bodyPr anchor="t" rtlCol="false" tIns="0" lIns="0" bIns="0" rIns="0">
            <a:spAutoFit/>
          </a:bodyPr>
          <a:lstStyle/>
          <a:p>
            <a:pPr algn="l" marL="329902" indent="-164951" lvl="1">
              <a:lnSpc>
                <a:spcPts val="3562"/>
              </a:lnSpc>
              <a:buFont typeface="Arial"/>
              <a:buChar char="•"/>
            </a:pPr>
            <a:r>
              <a:rPr lang="en-US" sz="2187">
                <a:solidFill>
                  <a:srgbClr val="695D46"/>
                </a:solidFill>
                <a:latin typeface="Open Sans"/>
                <a:ea typeface="Open Sans"/>
                <a:cs typeface="Open Sans"/>
                <a:sym typeface="Open Sans"/>
              </a:rPr>
              <a:t>VS Code (editor) — for development and debugging</a:t>
            </a:r>
          </a:p>
          <a:p>
            <a:pPr algn="l" marL="329902" indent="-164951" lvl="1">
              <a:lnSpc>
                <a:spcPts val="3562"/>
              </a:lnSpc>
              <a:buFont typeface="Arial"/>
              <a:buChar char="•"/>
            </a:pPr>
            <a:r>
              <a:rPr lang="en-US" sz="2187">
                <a:solidFill>
                  <a:srgbClr val="695D46"/>
                </a:solidFill>
                <a:latin typeface="Open Sans"/>
                <a:ea typeface="Open Sans"/>
                <a:cs typeface="Open Sans"/>
                <a:sym typeface="Open Sans"/>
              </a:rPr>
              <a:t>GCC (MinGW on Windows) — standard C compiler</a:t>
            </a:r>
          </a:p>
          <a:p>
            <a:pPr algn="l" marL="329902" indent="-164951" lvl="1">
              <a:lnSpc>
                <a:spcPts val="3562"/>
              </a:lnSpc>
              <a:buFont typeface="Arial"/>
              <a:buChar char="•"/>
            </a:pPr>
            <a:r>
              <a:rPr lang="en-US" sz="2187">
                <a:solidFill>
                  <a:srgbClr val="695D46"/>
                </a:solidFill>
                <a:latin typeface="Open Sans"/>
                <a:ea typeface="Open Sans"/>
                <a:cs typeface="Open Sans"/>
                <a:sym typeface="Open Sans"/>
              </a:rPr>
              <a:t>CSV text files — portable storage for records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6E6E6"/>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grpSp>
        <p:nvGrpSpPr>
          <p:cNvPr name="Group 6" id="6"/>
          <p:cNvGrpSpPr/>
          <p:nvPr/>
        </p:nvGrpSpPr>
        <p:grpSpPr>
          <a:xfrm rot="0">
            <a:off x="0" y="0"/>
            <a:ext cx="18288000" cy="3544043"/>
            <a:chOff x="0" y="0"/>
            <a:chExt cx="24384000" cy="4725391"/>
          </a:xfrm>
        </p:grpSpPr>
        <p:sp>
          <p:nvSpPr>
            <p:cNvPr name="Freeform 7" id="7" descr="preencoded.png"/>
            <p:cNvSpPr/>
            <p:nvPr/>
          </p:nvSpPr>
          <p:spPr>
            <a:xfrm flipH="false" flipV="false" rot="0">
              <a:off x="0" y="0"/>
              <a:ext cx="24384000" cy="4725416"/>
            </a:xfrm>
            <a:custGeom>
              <a:avLst/>
              <a:gdLst/>
              <a:ahLst/>
              <a:cxnLst/>
              <a:rect r="r" b="b" t="t" l="l"/>
              <a:pathLst>
                <a:path h="4725416" w="24384000">
                  <a:moveTo>
                    <a:pt x="0" y="0"/>
                  </a:moveTo>
                  <a:lnTo>
                    <a:pt x="24384000" y="0"/>
                  </a:lnTo>
                  <a:lnTo>
                    <a:pt x="24384000" y="4725416"/>
                  </a:lnTo>
                  <a:lnTo>
                    <a:pt x="0" y="4725416"/>
                  </a:lnTo>
                  <a:lnTo>
                    <a:pt x="0" y="0"/>
                  </a:lnTo>
                  <a:close/>
                </a:path>
              </a:pathLst>
            </a:custGeom>
            <a:blipFill>
              <a:blip r:embed="rId3"/>
              <a:stretch>
                <a:fillRect l="-10" t="0" r="-10" b="0"/>
              </a:stretch>
            </a:blipFill>
          </p:spPr>
        </p:sp>
      </p:grpSp>
      <p:sp>
        <p:nvSpPr>
          <p:cNvPr name="TextBox 8" id="8"/>
          <p:cNvSpPr txBox="true"/>
          <p:nvPr/>
        </p:nvSpPr>
        <p:spPr>
          <a:xfrm rot="0">
            <a:off x="992238" y="4519165"/>
            <a:ext cx="7799937" cy="727767"/>
          </a:xfrm>
          <a:prstGeom prst="rect">
            <a:avLst/>
          </a:prstGeom>
        </p:spPr>
        <p:txBody>
          <a:bodyPr anchor="t" rtlCol="false" tIns="0" lIns="0" bIns="0" rIns="0">
            <a:spAutoFit/>
          </a:bodyPr>
          <a:lstStyle/>
          <a:p>
            <a:pPr algn="l">
              <a:lnSpc>
                <a:spcPts val="5562"/>
              </a:lnSpc>
            </a:pPr>
            <a:r>
              <a:rPr lang="en-US" sz="4437" b="true">
                <a:solidFill>
                  <a:srgbClr val="EF6C00"/>
                </a:solidFill>
                <a:latin typeface="PT Sans Bold"/>
                <a:ea typeface="PT Sans Bold"/>
                <a:cs typeface="PT Sans Bold"/>
                <a:sym typeface="PT Sans Bold"/>
              </a:rPr>
              <a:t>Implementation &amp; Experimental Setup</a:t>
            </a:r>
          </a:p>
        </p:txBody>
      </p:sp>
      <p:sp>
        <p:nvSpPr>
          <p:cNvPr name="TextBox 9" id="9"/>
          <p:cNvSpPr txBox="true"/>
          <p:nvPr/>
        </p:nvSpPr>
        <p:spPr>
          <a:xfrm rot="0">
            <a:off x="992238" y="5586413"/>
            <a:ext cx="16303523" cy="992981"/>
          </a:xfrm>
          <a:prstGeom prst="rect">
            <a:avLst/>
          </a:prstGeom>
        </p:spPr>
        <p:txBody>
          <a:bodyPr anchor="t" rtlCol="false" tIns="0" lIns="0" bIns="0" rIns="0">
            <a:spAutoFit/>
          </a:bodyPr>
          <a:lstStyle/>
          <a:p>
            <a:pPr algn="l">
              <a:lnSpc>
                <a:spcPts val="3562"/>
              </a:lnSpc>
            </a:pPr>
            <a:r>
              <a:rPr lang="en-US" sz="2187">
                <a:solidFill>
                  <a:srgbClr val="695D46"/>
                </a:solidFill>
                <a:latin typeface="Open Sans"/>
                <a:ea typeface="Open Sans"/>
                <a:cs typeface="Open Sans"/>
                <a:sym typeface="Open Sans"/>
              </a:rPr>
              <a:t>Implementation supports names up to 32 characters and five subjects: C, Java, Python, DSA, AI &amp; ML. The system validates roll uniqueness, parses CSV lines robustly, and sorts records for reporting.</a:t>
            </a:r>
          </a:p>
        </p:txBody>
      </p:sp>
      <p:sp>
        <p:nvSpPr>
          <p:cNvPr name="Freeform 10" id="10" descr="preencoded.png"/>
          <p:cNvSpPr/>
          <p:nvPr/>
        </p:nvSpPr>
        <p:spPr>
          <a:xfrm flipH="false" flipV="false" rot="0">
            <a:off x="992238" y="6933752"/>
            <a:ext cx="283521" cy="283521"/>
          </a:xfrm>
          <a:custGeom>
            <a:avLst/>
            <a:gdLst/>
            <a:ahLst/>
            <a:cxnLst/>
            <a:rect r="r" b="b" t="t" l="l"/>
            <a:pathLst>
              <a:path h="283521" w="283521">
                <a:moveTo>
                  <a:pt x="0" y="0"/>
                </a:moveTo>
                <a:lnTo>
                  <a:pt x="283521" y="0"/>
                </a:lnTo>
                <a:lnTo>
                  <a:pt x="283521" y="283521"/>
                </a:lnTo>
                <a:lnTo>
                  <a:pt x="0" y="283521"/>
                </a:lnTo>
                <a:lnTo>
                  <a:pt x="0" y="0"/>
                </a:lnTo>
                <a:close/>
              </a:path>
            </a:pathLst>
          </a:custGeom>
          <a:blipFill>
            <a:blip r:embed="rId4">
              <a:extLst>
                <a:ext uri="{96DAC541-7B7A-43D3-8B79-37D633B846F1}">
                  <asvg:svgBlip xmlns:asvg="http://schemas.microsoft.com/office/drawing/2016/SVG/main" r:embed="rId5"/>
                </a:ext>
              </a:extLst>
            </a:blip>
            <a:stretch>
              <a:fillRect l="0" t="-11667" r="0" b="-11664"/>
            </a:stretch>
          </a:blipFill>
        </p:spPr>
      </p:sp>
      <p:grpSp>
        <p:nvGrpSpPr>
          <p:cNvPr name="Group 11" id="11"/>
          <p:cNvGrpSpPr/>
          <p:nvPr/>
        </p:nvGrpSpPr>
        <p:grpSpPr>
          <a:xfrm rot="0">
            <a:off x="992238" y="7342137"/>
            <a:ext cx="5245446" cy="38100"/>
            <a:chOff x="0" y="0"/>
            <a:chExt cx="6993928" cy="50800"/>
          </a:xfrm>
        </p:grpSpPr>
        <p:sp>
          <p:nvSpPr>
            <p:cNvPr name="Freeform 12" id="12"/>
            <p:cNvSpPr/>
            <p:nvPr/>
          </p:nvSpPr>
          <p:spPr>
            <a:xfrm flipH="false" flipV="false" rot="0">
              <a:off x="0" y="0"/>
              <a:ext cx="6993890" cy="50800"/>
            </a:xfrm>
            <a:custGeom>
              <a:avLst/>
              <a:gdLst/>
              <a:ahLst/>
              <a:cxnLst/>
              <a:rect r="r" b="b" t="t" l="l"/>
              <a:pathLst>
                <a:path h="50800" w="6993890">
                  <a:moveTo>
                    <a:pt x="0" y="0"/>
                  </a:moveTo>
                  <a:lnTo>
                    <a:pt x="6993890" y="0"/>
                  </a:lnTo>
                  <a:lnTo>
                    <a:pt x="6993890" y="50800"/>
                  </a:lnTo>
                  <a:lnTo>
                    <a:pt x="0" y="50800"/>
                  </a:lnTo>
                  <a:close/>
                </a:path>
              </a:pathLst>
            </a:custGeom>
            <a:solidFill>
              <a:srgbClr val="4DB6AC"/>
            </a:solidFill>
          </p:spPr>
        </p:sp>
      </p:grpSp>
      <p:sp>
        <p:nvSpPr>
          <p:cNvPr name="TextBox 13" id="13"/>
          <p:cNvSpPr txBox="true"/>
          <p:nvPr/>
        </p:nvSpPr>
        <p:spPr>
          <a:xfrm rot="0">
            <a:off x="992238" y="7540971"/>
            <a:ext cx="3544043" cy="461962"/>
          </a:xfrm>
          <a:prstGeom prst="rect">
            <a:avLst/>
          </a:prstGeom>
        </p:spPr>
        <p:txBody>
          <a:bodyPr anchor="t" rtlCol="false" tIns="0" lIns="0" bIns="0" rIns="0">
            <a:spAutoFit/>
          </a:bodyPr>
          <a:lstStyle/>
          <a:p>
            <a:pPr algn="l">
              <a:lnSpc>
                <a:spcPts val="3437"/>
              </a:lnSpc>
            </a:pPr>
            <a:r>
              <a:rPr lang="en-US" sz="2750" b="true">
                <a:solidFill>
                  <a:srgbClr val="695D46"/>
                </a:solidFill>
                <a:latin typeface="PT Sans Bold"/>
                <a:ea typeface="PT Sans Bold"/>
                <a:cs typeface="PT Sans Bold"/>
                <a:sym typeface="PT Sans Bold"/>
              </a:rPr>
              <a:t>Data Input</a:t>
            </a:r>
          </a:p>
        </p:txBody>
      </p:sp>
      <p:sp>
        <p:nvSpPr>
          <p:cNvPr name="TextBox 14" id="14"/>
          <p:cNvSpPr txBox="true"/>
          <p:nvPr/>
        </p:nvSpPr>
        <p:spPr>
          <a:xfrm rot="0">
            <a:off x="992238" y="8087316"/>
            <a:ext cx="5245446" cy="992981"/>
          </a:xfrm>
          <a:prstGeom prst="rect">
            <a:avLst/>
          </a:prstGeom>
        </p:spPr>
        <p:txBody>
          <a:bodyPr anchor="t" rtlCol="false" tIns="0" lIns="0" bIns="0" rIns="0">
            <a:spAutoFit/>
          </a:bodyPr>
          <a:lstStyle/>
          <a:p>
            <a:pPr algn="l">
              <a:lnSpc>
                <a:spcPts val="3562"/>
              </a:lnSpc>
            </a:pPr>
            <a:r>
              <a:rPr lang="en-US" sz="2187">
                <a:solidFill>
                  <a:srgbClr val="695D46"/>
                </a:solidFill>
                <a:latin typeface="Open Sans"/>
                <a:ea typeface="Open Sans"/>
                <a:cs typeface="Open Sans"/>
                <a:sym typeface="Open Sans"/>
              </a:rPr>
              <a:t>CSV import and menu-driven entry with input sanitization.</a:t>
            </a:r>
          </a:p>
        </p:txBody>
      </p:sp>
      <p:sp>
        <p:nvSpPr>
          <p:cNvPr name="Freeform 15" id="15" descr="preencoded.png"/>
          <p:cNvSpPr/>
          <p:nvPr/>
        </p:nvSpPr>
        <p:spPr>
          <a:xfrm flipH="false" flipV="false" rot="0">
            <a:off x="6521206" y="6933752"/>
            <a:ext cx="283521" cy="283521"/>
          </a:xfrm>
          <a:custGeom>
            <a:avLst/>
            <a:gdLst/>
            <a:ahLst/>
            <a:cxnLst/>
            <a:rect r="r" b="b" t="t" l="l"/>
            <a:pathLst>
              <a:path h="283521" w="283521">
                <a:moveTo>
                  <a:pt x="0" y="0"/>
                </a:moveTo>
                <a:lnTo>
                  <a:pt x="283521" y="0"/>
                </a:lnTo>
                <a:lnTo>
                  <a:pt x="283521" y="283521"/>
                </a:lnTo>
                <a:lnTo>
                  <a:pt x="0" y="28352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6" id="16"/>
          <p:cNvGrpSpPr/>
          <p:nvPr/>
        </p:nvGrpSpPr>
        <p:grpSpPr>
          <a:xfrm rot="0">
            <a:off x="6521206" y="7342137"/>
            <a:ext cx="5245446" cy="38100"/>
            <a:chOff x="0" y="0"/>
            <a:chExt cx="6993928" cy="50800"/>
          </a:xfrm>
        </p:grpSpPr>
        <p:sp>
          <p:nvSpPr>
            <p:cNvPr name="Freeform 17" id="17"/>
            <p:cNvSpPr/>
            <p:nvPr/>
          </p:nvSpPr>
          <p:spPr>
            <a:xfrm flipH="false" flipV="false" rot="0">
              <a:off x="0" y="0"/>
              <a:ext cx="6993890" cy="50800"/>
            </a:xfrm>
            <a:custGeom>
              <a:avLst/>
              <a:gdLst/>
              <a:ahLst/>
              <a:cxnLst/>
              <a:rect r="r" b="b" t="t" l="l"/>
              <a:pathLst>
                <a:path h="50800" w="6993890">
                  <a:moveTo>
                    <a:pt x="0" y="0"/>
                  </a:moveTo>
                  <a:lnTo>
                    <a:pt x="6993890" y="0"/>
                  </a:lnTo>
                  <a:lnTo>
                    <a:pt x="6993890" y="50800"/>
                  </a:lnTo>
                  <a:lnTo>
                    <a:pt x="0" y="50800"/>
                  </a:lnTo>
                  <a:close/>
                </a:path>
              </a:pathLst>
            </a:custGeom>
            <a:solidFill>
              <a:srgbClr val="4DB6AC"/>
            </a:solidFill>
          </p:spPr>
        </p:sp>
      </p:grpSp>
      <p:sp>
        <p:nvSpPr>
          <p:cNvPr name="TextBox 18" id="18"/>
          <p:cNvSpPr txBox="true"/>
          <p:nvPr/>
        </p:nvSpPr>
        <p:spPr>
          <a:xfrm rot="0">
            <a:off x="6521206" y="7540971"/>
            <a:ext cx="3544043" cy="461962"/>
          </a:xfrm>
          <a:prstGeom prst="rect">
            <a:avLst/>
          </a:prstGeom>
        </p:spPr>
        <p:txBody>
          <a:bodyPr anchor="t" rtlCol="false" tIns="0" lIns="0" bIns="0" rIns="0">
            <a:spAutoFit/>
          </a:bodyPr>
          <a:lstStyle/>
          <a:p>
            <a:pPr algn="l">
              <a:lnSpc>
                <a:spcPts val="3437"/>
              </a:lnSpc>
            </a:pPr>
            <a:r>
              <a:rPr lang="en-US" sz="2750" b="true">
                <a:solidFill>
                  <a:srgbClr val="695D46"/>
                </a:solidFill>
                <a:latin typeface="PT Sans Bold"/>
                <a:ea typeface="PT Sans Bold"/>
                <a:cs typeface="PT Sans Bold"/>
                <a:sym typeface="PT Sans Bold"/>
              </a:rPr>
              <a:t>Storage</a:t>
            </a:r>
          </a:p>
        </p:txBody>
      </p:sp>
      <p:sp>
        <p:nvSpPr>
          <p:cNvPr name="TextBox 19" id="19"/>
          <p:cNvSpPr txBox="true"/>
          <p:nvPr/>
        </p:nvSpPr>
        <p:spPr>
          <a:xfrm rot="0">
            <a:off x="6521206" y="8087316"/>
            <a:ext cx="5245446" cy="992981"/>
          </a:xfrm>
          <a:prstGeom prst="rect">
            <a:avLst/>
          </a:prstGeom>
        </p:spPr>
        <p:txBody>
          <a:bodyPr anchor="t" rtlCol="false" tIns="0" lIns="0" bIns="0" rIns="0">
            <a:spAutoFit/>
          </a:bodyPr>
          <a:lstStyle/>
          <a:p>
            <a:pPr algn="l">
              <a:lnSpc>
                <a:spcPts val="3562"/>
              </a:lnSpc>
            </a:pPr>
            <a:r>
              <a:rPr lang="en-US" sz="2187">
                <a:solidFill>
                  <a:srgbClr val="695D46"/>
                </a:solidFill>
                <a:latin typeface="Open Sans"/>
                <a:ea typeface="Open Sans"/>
                <a:cs typeface="Open Sans"/>
                <a:sym typeface="Open Sans"/>
              </a:rPr>
              <a:t>Persistent CSV writes with atomic updates to avoid corruption.</a:t>
            </a:r>
          </a:p>
        </p:txBody>
      </p:sp>
      <p:sp>
        <p:nvSpPr>
          <p:cNvPr name="Freeform 20" id="20" descr="preencoded.png"/>
          <p:cNvSpPr/>
          <p:nvPr/>
        </p:nvSpPr>
        <p:spPr>
          <a:xfrm flipH="false" flipV="false" rot="0">
            <a:off x="12050163" y="6933752"/>
            <a:ext cx="283521" cy="283521"/>
          </a:xfrm>
          <a:custGeom>
            <a:avLst/>
            <a:gdLst/>
            <a:ahLst/>
            <a:cxnLst/>
            <a:rect r="r" b="b" t="t" l="l"/>
            <a:pathLst>
              <a:path h="283521" w="283521">
                <a:moveTo>
                  <a:pt x="0" y="0"/>
                </a:moveTo>
                <a:lnTo>
                  <a:pt x="283521" y="0"/>
                </a:lnTo>
                <a:lnTo>
                  <a:pt x="283521" y="283521"/>
                </a:lnTo>
                <a:lnTo>
                  <a:pt x="0" y="283521"/>
                </a:lnTo>
                <a:lnTo>
                  <a:pt x="0" y="0"/>
                </a:lnTo>
                <a:close/>
              </a:path>
            </a:pathLst>
          </a:custGeom>
          <a:blipFill>
            <a:blip r:embed="rId8">
              <a:extLst>
                <a:ext uri="{96DAC541-7B7A-43D3-8B79-37D633B846F1}">
                  <asvg:svgBlip xmlns:asvg="http://schemas.microsoft.com/office/drawing/2016/SVG/main" r:embed="rId9"/>
                </a:ext>
              </a:extLst>
            </a:blip>
            <a:stretch>
              <a:fillRect l="-4998" t="0" r="-4998" b="0"/>
            </a:stretch>
          </a:blipFill>
        </p:spPr>
      </p:sp>
      <p:grpSp>
        <p:nvGrpSpPr>
          <p:cNvPr name="Group 21" id="21"/>
          <p:cNvGrpSpPr/>
          <p:nvPr/>
        </p:nvGrpSpPr>
        <p:grpSpPr>
          <a:xfrm rot="0">
            <a:off x="12050163" y="7342137"/>
            <a:ext cx="5245446" cy="38100"/>
            <a:chOff x="0" y="0"/>
            <a:chExt cx="6993928" cy="50800"/>
          </a:xfrm>
        </p:grpSpPr>
        <p:sp>
          <p:nvSpPr>
            <p:cNvPr name="Freeform 22" id="22"/>
            <p:cNvSpPr/>
            <p:nvPr/>
          </p:nvSpPr>
          <p:spPr>
            <a:xfrm flipH="false" flipV="false" rot="0">
              <a:off x="0" y="0"/>
              <a:ext cx="6993890" cy="50800"/>
            </a:xfrm>
            <a:custGeom>
              <a:avLst/>
              <a:gdLst/>
              <a:ahLst/>
              <a:cxnLst/>
              <a:rect r="r" b="b" t="t" l="l"/>
              <a:pathLst>
                <a:path h="50800" w="6993890">
                  <a:moveTo>
                    <a:pt x="0" y="0"/>
                  </a:moveTo>
                  <a:lnTo>
                    <a:pt x="6993890" y="0"/>
                  </a:lnTo>
                  <a:lnTo>
                    <a:pt x="6993890" y="50800"/>
                  </a:lnTo>
                  <a:lnTo>
                    <a:pt x="0" y="50800"/>
                  </a:lnTo>
                  <a:close/>
                </a:path>
              </a:pathLst>
            </a:custGeom>
            <a:solidFill>
              <a:srgbClr val="4DB6AC"/>
            </a:solidFill>
          </p:spPr>
        </p:sp>
      </p:grpSp>
      <p:sp>
        <p:nvSpPr>
          <p:cNvPr name="TextBox 23" id="23"/>
          <p:cNvSpPr txBox="true"/>
          <p:nvPr/>
        </p:nvSpPr>
        <p:spPr>
          <a:xfrm rot="0">
            <a:off x="12050163" y="7540971"/>
            <a:ext cx="3544043" cy="461962"/>
          </a:xfrm>
          <a:prstGeom prst="rect">
            <a:avLst/>
          </a:prstGeom>
        </p:spPr>
        <p:txBody>
          <a:bodyPr anchor="t" rtlCol="false" tIns="0" lIns="0" bIns="0" rIns="0">
            <a:spAutoFit/>
          </a:bodyPr>
          <a:lstStyle/>
          <a:p>
            <a:pPr algn="l">
              <a:lnSpc>
                <a:spcPts val="3437"/>
              </a:lnSpc>
            </a:pPr>
            <a:r>
              <a:rPr lang="en-US" sz="2750" b="true">
                <a:solidFill>
                  <a:srgbClr val="695D46"/>
                </a:solidFill>
                <a:latin typeface="PT Sans Bold"/>
                <a:ea typeface="PT Sans Bold"/>
                <a:cs typeface="PT Sans Bold"/>
                <a:sym typeface="PT Sans Bold"/>
              </a:rPr>
              <a:t>Processing</a:t>
            </a:r>
          </a:p>
        </p:txBody>
      </p:sp>
      <p:sp>
        <p:nvSpPr>
          <p:cNvPr name="TextBox 24" id="24"/>
          <p:cNvSpPr txBox="true"/>
          <p:nvPr/>
        </p:nvSpPr>
        <p:spPr>
          <a:xfrm rot="0">
            <a:off x="12050163" y="8087316"/>
            <a:ext cx="5245446" cy="992981"/>
          </a:xfrm>
          <a:prstGeom prst="rect">
            <a:avLst/>
          </a:prstGeom>
        </p:spPr>
        <p:txBody>
          <a:bodyPr anchor="t" rtlCol="false" tIns="0" lIns="0" bIns="0" rIns="0">
            <a:spAutoFit/>
          </a:bodyPr>
          <a:lstStyle/>
          <a:p>
            <a:pPr algn="l">
              <a:lnSpc>
                <a:spcPts val="3562"/>
              </a:lnSpc>
            </a:pPr>
            <a:r>
              <a:rPr lang="en-US" sz="2187">
                <a:solidFill>
                  <a:srgbClr val="695D46"/>
                </a:solidFill>
                <a:latin typeface="Open Sans"/>
                <a:ea typeface="Open Sans"/>
                <a:cs typeface="Open Sans"/>
                <a:sym typeface="Open Sans"/>
              </a:rPr>
              <a:t>qsort for ranking, aggregate functions for class analytics.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6E6E6"/>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grpSp>
        <p:nvGrpSpPr>
          <p:cNvPr name="Group 6" id="6"/>
          <p:cNvGrpSpPr/>
          <p:nvPr/>
        </p:nvGrpSpPr>
        <p:grpSpPr>
          <a:xfrm rot="0">
            <a:off x="0" y="0"/>
            <a:ext cx="6858000" cy="10287000"/>
            <a:chOff x="0" y="0"/>
            <a:chExt cx="9144000" cy="13716000"/>
          </a:xfrm>
        </p:grpSpPr>
        <p:sp>
          <p:nvSpPr>
            <p:cNvPr name="Freeform 7" id="7"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3"/>
              <a:stretch>
                <a:fillRect l="0" t="0" r="0" b="0"/>
              </a:stretch>
            </a:blipFill>
          </p:spPr>
        </p:sp>
      </p:grpSp>
      <p:sp>
        <p:nvSpPr>
          <p:cNvPr name="TextBox 8" id="8"/>
          <p:cNvSpPr txBox="true"/>
          <p:nvPr/>
        </p:nvSpPr>
        <p:spPr>
          <a:xfrm rot="0">
            <a:off x="7850238" y="772563"/>
            <a:ext cx="5670652" cy="727767"/>
          </a:xfrm>
          <a:prstGeom prst="rect">
            <a:avLst/>
          </a:prstGeom>
        </p:spPr>
        <p:txBody>
          <a:bodyPr anchor="t" rtlCol="false" tIns="0" lIns="0" bIns="0" rIns="0">
            <a:spAutoFit/>
          </a:bodyPr>
          <a:lstStyle/>
          <a:p>
            <a:pPr algn="l">
              <a:lnSpc>
                <a:spcPts val="5562"/>
              </a:lnSpc>
            </a:pPr>
            <a:r>
              <a:rPr lang="en-US" sz="4437" b="true">
                <a:solidFill>
                  <a:srgbClr val="EF6C00"/>
                </a:solidFill>
                <a:latin typeface="PT Sans Bold"/>
                <a:ea typeface="PT Sans Bold"/>
                <a:cs typeface="PT Sans Bold"/>
                <a:sym typeface="PT Sans Bold"/>
              </a:rPr>
              <a:t>Results &amp; Conclusions</a:t>
            </a:r>
          </a:p>
        </p:txBody>
      </p:sp>
      <p:grpSp>
        <p:nvGrpSpPr>
          <p:cNvPr name="Group 9" id="9"/>
          <p:cNvGrpSpPr/>
          <p:nvPr/>
        </p:nvGrpSpPr>
        <p:grpSpPr>
          <a:xfrm rot="0">
            <a:off x="7850238" y="2330206"/>
            <a:ext cx="4376890" cy="2820143"/>
            <a:chOff x="0" y="0"/>
            <a:chExt cx="5835853" cy="3760191"/>
          </a:xfrm>
        </p:grpSpPr>
        <p:sp>
          <p:nvSpPr>
            <p:cNvPr name="Freeform 10" id="10" descr="preencoded.png"/>
            <p:cNvSpPr/>
            <p:nvPr/>
          </p:nvSpPr>
          <p:spPr>
            <a:xfrm flipH="false" flipV="false" rot="0">
              <a:off x="0" y="0"/>
              <a:ext cx="5835904" cy="3760216"/>
            </a:xfrm>
            <a:custGeom>
              <a:avLst/>
              <a:gdLst/>
              <a:ahLst/>
              <a:cxnLst/>
              <a:rect r="r" b="b" t="t" l="l"/>
              <a:pathLst>
                <a:path h="3760216" w="5835904">
                  <a:moveTo>
                    <a:pt x="0" y="0"/>
                  </a:moveTo>
                  <a:lnTo>
                    <a:pt x="5835904" y="0"/>
                  </a:lnTo>
                  <a:lnTo>
                    <a:pt x="5835904" y="3760216"/>
                  </a:lnTo>
                  <a:lnTo>
                    <a:pt x="0" y="3760216"/>
                  </a:lnTo>
                  <a:lnTo>
                    <a:pt x="0" y="0"/>
                  </a:lnTo>
                  <a:close/>
                </a:path>
              </a:pathLst>
            </a:custGeom>
            <a:blipFill>
              <a:blip r:embed="rId4"/>
              <a:stretch>
                <a:fillRect l="-65" t="0" r="-64" b="0"/>
              </a:stretch>
            </a:blipFill>
          </p:spPr>
        </p:sp>
      </p:grpSp>
      <p:grpSp>
        <p:nvGrpSpPr>
          <p:cNvPr name="Group 11" id="11"/>
          <p:cNvGrpSpPr/>
          <p:nvPr/>
        </p:nvGrpSpPr>
        <p:grpSpPr>
          <a:xfrm rot="0">
            <a:off x="11079213" y="3182836"/>
            <a:ext cx="792366" cy="196453"/>
            <a:chOff x="0" y="0"/>
            <a:chExt cx="1056488" cy="261938"/>
          </a:xfrm>
        </p:grpSpPr>
        <p:sp>
          <p:nvSpPr>
            <p:cNvPr name="Freeform 12" id="12"/>
            <p:cNvSpPr/>
            <p:nvPr/>
          </p:nvSpPr>
          <p:spPr>
            <a:xfrm flipH="false" flipV="false" rot="0">
              <a:off x="6350" y="6350"/>
              <a:ext cx="1043813" cy="249174"/>
            </a:xfrm>
            <a:custGeom>
              <a:avLst/>
              <a:gdLst/>
              <a:ahLst/>
              <a:cxnLst/>
              <a:rect r="r" b="b" t="t" l="l"/>
              <a:pathLst>
                <a:path h="249174" w="1043813">
                  <a:moveTo>
                    <a:pt x="0" y="124587"/>
                  </a:moveTo>
                  <a:cubicBezTo>
                    <a:pt x="0" y="55753"/>
                    <a:pt x="57912" y="0"/>
                    <a:pt x="129413" y="0"/>
                  </a:cubicBezTo>
                  <a:lnTo>
                    <a:pt x="914400" y="0"/>
                  </a:lnTo>
                  <a:cubicBezTo>
                    <a:pt x="985901" y="0"/>
                    <a:pt x="1043813" y="55753"/>
                    <a:pt x="1043813" y="124587"/>
                  </a:cubicBezTo>
                  <a:cubicBezTo>
                    <a:pt x="1043813" y="193421"/>
                    <a:pt x="985901" y="249174"/>
                    <a:pt x="914400" y="249174"/>
                  </a:cubicBezTo>
                  <a:lnTo>
                    <a:pt x="129413" y="249174"/>
                  </a:lnTo>
                  <a:cubicBezTo>
                    <a:pt x="57912" y="249301"/>
                    <a:pt x="0" y="193421"/>
                    <a:pt x="0" y="124587"/>
                  </a:cubicBezTo>
                  <a:close/>
                </a:path>
              </a:pathLst>
            </a:custGeom>
            <a:solidFill>
              <a:srgbClr val="FFFFFF">
                <a:alpha val="3922"/>
              </a:srgbClr>
            </a:solidFill>
          </p:spPr>
        </p:sp>
        <p:sp>
          <p:nvSpPr>
            <p:cNvPr name="Freeform 13" id="13"/>
            <p:cNvSpPr/>
            <p:nvPr/>
          </p:nvSpPr>
          <p:spPr>
            <a:xfrm flipH="false" flipV="false" rot="0">
              <a:off x="0" y="0"/>
              <a:ext cx="1056513" cy="261874"/>
            </a:xfrm>
            <a:custGeom>
              <a:avLst/>
              <a:gdLst/>
              <a:ahLst/>
              <a:cxnLst/>
              <a:rect r="r" b="b" t="t" l="l"/>
              <a:pathLst>
                <a:path h="261874" w="1056513">
                  <a:moveTo>
                    <a:pt x="0" y="130937"/>
                  </a:moveTo>
                  <a:cubicBezTo>
                    <a:pt x="0" y="58420"/>
                    <a:pt x="60960" y="0"/>
                    <a:pt x="135763" y="0"/>
                  </a:cubicBezTo>
                  <a:lnTo>
                    <a:pt x="920750" y="0"/>
                  </a:lnTo>
                  <a:lnTo>
                    <a:pt x="920750" y="6350"/>
                  </a:lnTo>
                  <a:lnTo>
                    <a:pt x="920750" y="0"/>
                  </a:lnTo>
                  <a:cubicBezTo>
                    <a:pt x="995553" y="0"/>
                    <a:pt x="1056513" y="58420"/>
                    <a:pt x="1056513" y="130937"/>
                  </a:cubicBezTo>
                  <a:lnTo>
                    <a:pt x="1050163" y="130937"/>
                  </a:lnTo>
                  <a:lnTo>
                    <a:pt x="1056513" y="130937"/>
                  </a:lnTo>
                  <a:lnTo>
                    <a:pt x="1050163" y="130937"/>
                  </a:lnTo>
                  <a:lnTo>
                    <a:pt x="1056513" y="130937"/>
                  </a:lnTo>
                  <a:cubicBezTo>
                    <a:pt x="1056513" y="203454"/>
                    <a:pt x="995553" y="261874"/>
                    <a:pt x="920750" y="261874"/>
                  </a:cubicBezTo>
                  <a:lnTo>
                    <a:pt x="920750" y="255524"/>
                  </a:lnTo>
                  <a:lnTo>
                    <a:pt x="920750" y="261874"/>
                  </a:lnTo>
                  <a:lnTo>
                    <a:pt x="135763" y="261874"/>
                  </a:lnTo>
                  <a:lnTo>
                    <a:pt x="135763" y="255524"/>
                  </a:lnTo>
                  <a:lnTo>
                    <a:pt x="135763" y="261874"/>
                  </a:lnTo>
                  <a:cubicBezTo>
                    <a:pt x="60960" y="262001"/>
                    <a:pt x="0" y="203581"/>
                    <a:pt x="0" y="130937"/>
                  </a:cubicBezTo>
                  <a:cubicBezTo>
                    <a:pt x="0" y="127381"/>
                    <a:pt x="2794" y="124587"/>
                    <a:pt x="6350" y="124587"/>
                  </a:cubicBezTo>
                  <a:lnTo>
                    <a:pt x="6350" y="130937"/>
                  </a:lnTo>
                  <a:lnTo>
                    <a:pt x="0" y="130937"/>
                  </a:lnTo>
                  <a:moveTo>
                    <a:pt x="12700" y="130937"/>
                  </a:moveTo>
                  <a:cubicBezTo>
                    <a:pt x="12700" y="134493"/>
                    <a:pt x="9906" y="137287"/>
                    <a:pt x="6350" y="137287"/>
                  </a:cubicBezTo>
                  <a:lnTo>
                    <a:pt x="6350" y="130937"/>
                  </a:lnTo>
                  <a:lnTo>
                    <a:pt x="12700" y="130937"/>
                  </a:lnTo>
                  <a:cubicBezTo>
                    <a:pt x="12700" y="196088"/>
                    <a:pt x="67564" y="249174"/>
                    <a:pt x="135763" y="249174"/>
                  </a:cubicBezTo>
                  <a:lnTo>
                    <a:pt x="920750" y="249174"/>
                  </a:lnTo>
                  <a:cubicBezTo>
                    <a:pt x="988949" y="249174"/>
                    <a:pt x="1043813" y="195961"/>
                    <a:pt x="1043813" y="130937"/>
                  </a:cubicBezTo>
                  <a:cubicBezTo>
                    <a:pt x="1043813" y="65913"/>
                    <a:pt x="988949" y="12700"/>
                    <a:pt x="920750" y="12700"/>
                  </a:cubicBezTo>
                  <a:lnTo>
                    <a:pt x="135763" y="12700"/>
                  </a:lnTo>
                  <a:lnTo>
                    <a:pt x="135763" y="6350"/>
                  </a:lnTo>
                  <a:lnTo>
                    <a:pt x="135763" y="12700"/>
                  </a:lnTo>
                  <a:cubicBezTo>
                    <a:pt x="67564" y="12700"/>
                    <a:pt x="12700" y="65913"/>
                    <a:pt x="12700" y="130937"/>
                  </a:cubicBezTo>
                  <a:close/>
                </a:path>
              </a:pathLst>
            </a:custGeom>
            <a:solidFill>
              <a:srgbClr val="000000"/>
            </a:solidFill>
          </p:spPr>
        </p:sp>
      </p:grpSp>
      <p:grpSp>
        <p:nvGrpSpPr>
          <p:cNvPr name="Group 14" id="14"/>
          <p:cNvGrpSpPr/>
          <p:nvPr/>
        </p:nvGrpSpPr>
        <p:grpSpPr>
          <a:xfrm rot="0">
            <a:off x="11144841" y="3229566"/>
            <a:ext cx="102841" cy="102841"/>
            <a:chOff x="0" y="0"/>
            <a:chExt cx="137122" cy="137122"/>
          </a:xfrm>
        </p:grpSpPr>
        <p:sp>
          <p:nvSpPr>
            <p:cNvPr name="Freeform 15" id="15" descr="preencoded.png"/>
            <p:cNvSpPr/>
            <p:nvPr/>
          </p:nvSpPr>
          <p:spPr>
            <a:xfrm flipH="false" flipV="false" rot="0">
              <a:off x="0" y="0"/>
              <a:ext cx="137160" cy="137160"/>
            </a:xfrm>
            <a:custGeom>
              <a:avLst/>
              <a:gdLst/>
              <a:ahLst/>
              <a:cxnLst/>
              <a:rect r="r" b="b" t="t" l="l"/>
              <a:pathLst>
                <a:path h="137160" w="137160">
                  <a:moveTo>
                    <a:pt x="0" y="0"/>
                  </a:moveTo>
                  <a:lnTo>
                    <a:pt x="137160" y="0"/>
                  </a:lnTo>
                  <a:lnTo>
                    <a:pt x="137160" y="137160"/>
                  </a:lnTo>
                  <a:lnTo>
                    <a:pt x="0" y="137160"/>
                  </a:lnTo>
                  <a:lnTo>
                    <a:pt x="0" y="0"/>
                  </a:lnTo>
                  <a:close/>
                </a:path>
              </a:pathLst>
            </a:custGeom>
            <a:blipFill>
              <a:blip r:embed="rId5"/>
              <a:stretch>
                <a:fillRect l="0" t="0" r="27" b="27"/>
              </a:stretch>
            </a:blipFill>
          </p:spPr>
        </p:sp>
      </p:grpSp>
      <p:sp>
        <p:nvSpPr>
          <p:cNvPr name="TextBox 16" id="16"/>
          <p:cNvSpPr txBox="true"/>
          <p:nvPr/>
        </p:nvSpPr>
        <p:spPr>
          <a:xfrm rot="0">
            <a:off x="11310490" y="3185665"/>
            <a:ext cx="524027" cy="162220"/>
          </a:xfrm>
          <a:prstGeom prst="rect">
            <a:avLst/>
          </a:prstGeom>
        </p:spPr>
        <p:txBody>
          <a:bodyPr anchor="t" rtlCol="false" tIns="0" lIns="0" bIns="0" rIns="0">
            <a:spAutoFit/>
          </a:bodyPr>
          <a:lstStyle/>
          <a:p>
            <a:pPr algn="l">
              <a:lnSpc>
                <a:spcPts val="1000"/>
              </a:lnSpc>
            </a:pPr>
            <a:r>
              <a:rPr lang="en-US" sz="750">
                <a:solidFill>
                  <a:srgbClr val="695D46"/>
                </a:solidFill>
                <a:latin typeface="Arimo"/>
                <a:ea typeface="Arimo"/>
                <a:cs typeface="Arimo"/>
                <a:sym typeface="Arimo"/>
              </a:rPr>
              <a:t>A·26.67%</a:t>
            </a:r>
          </a:p>
        </p:txBody>
      </p:sp>
      <p:sp>
        <p:nvSpPr>
          <p:cNvPr name="TextBox 17" id="17"/>
          <p:cNvSpPr txBox="true"/>
          <p:nvPr/>
        </p:nvSpPr>
        <p:spPr>
          <a:xfrm rot="0">
            <a:off x="11376269" y="3185665"/>
            <a:ext cx="458238" cy="162220"/>
          </a:xfrm>
          <a:prstGeom prst="rect">
            <a:avLst/>
          </a:prstGeom>
        </p:spPr>
        <p:txBody>
          <a:bodyPr anchor="t" rtlCol="false" tIns="0" lIns="0" bIns="0" rIns="0">
            <a:spAutoFit/>
          </a:bodyPr>
          <a:lstStyle/>
          <a:p>
            <a:pPr algn="l">
              <a:lnSpc>
                <a:spcPts val="1000"/>
              </a:lnSpc>
            </a:pPr>
            <a:r>
              <a:rPr lang="en-US" sz="750">
                <a:solidFill>
                  <a:srgbClr val="695D46"/>
                </a:solidFill>
                <a:latin typeface="Arimo"/>
                <a:ea typeface="Arimo"/>
                <a:cs typeface="Arimo"/>
                <a:sym typeface="Arimo"/>
              </a:rPr>
              <a:t>·26.67%</a:t>
            </a:r>
          </a:p>
        </p:txBody>
      </p:sp>
      <p:sp>
        <p:nvSpPr>
          <p:cNvPr name="TextBox 18" id="18"/>
          <p:cNvSpPr txBox="true"/>
          <p:nvPr/>
        </p:nvSpPr>
        <p:spPr>
          <a:xfrm rot="0">
            <a:off x="11417351" y="3185665"/>
            <a:ext cx="27680" cy="162220"/>
          </a:xfrm>
          <a:prstGeom prst="rect">
            <a:avLst/>
          </a:prstGeom>
        </p:spPr>
        <p:txBody>
          <a:bodyPr anchor="t" rtlCol="false" tIns="0" lIns="0" bIns="0" rIns="0">
            <a:spAutoFit/>
          </a:bodyPr>
          <a:lstStyle/>
          <a:p>
            <a:pPr algn="l">
              <a:lnSpc>
                <a:spcPts val="1000"/>
              </a:lnSpc>
            </a:pPr>
            <a:r>
              <a:rPr lang="en-US" sz="750">
                <a:solidFill>
                  <a:srgbClr val="695D46"/>
                </a:solidFill>
                <a:latin typeface="Arimo"/>
                <a:ea typeface="Arimo"/>
                <a:cs typeface="Arimo"/>
                <a:sym typeface="Arimo"/>
              </a:rPr>
              <a:t>·</a:t>
            </a:r>
          </a:p>
        </p:txBody>
      </p:sp>
      <p:grpSp>
        <p:nvGrpSpPr>
          <p:cNvPr name="Group 19" id="19"/>
          <p:cNvGrpSpPr/>
          <p:nvPr/>
        </p:nvGrpSpPr>
        <p:grpSpPr>
          <a:xfrm rot="0">
            <a:off x="11079213" y="3445964"/>
            <a:ext cx="793547" cy="196453"/>
            <a:chOff x="0" y="0"/>
            <a:chExt cx="1058062" cy="261938"/>
          </a:xfrm>
        </p:grpSpPr>
        <p:sp>
          <p:nvSpPr>
            <p:cNvPr name="Freeform 20" id="20"/>
            <p:cNvSpPr/>
            <p:nvPr/>
          </p:nvSpPr>
          <p:spPr>
            <a:xfrm flipH="false" flipV="false" rot="0">
              <a:off x="6350" y="6350"/>
              <a:ext cx="1045337" cy="249174"/>
            </a:xfrm>
            <a:custGeom>
              <a:avLst/>
              <a:gdLst/>
              <a:ahLst/>
              <a:cxnLst/>
              <a:rect r="r" b="b" t="t" l="l"/>
              <a:pathLst>
                <a:path h="249174" w="1045337">
                  <a:moveTo>
                    <a:pt x="0" y="124587"/>
                  </a:moveTo>
                  <a:cubicBezTo>
                    <a:pt x="0" y="55753"/>
                    <a:pt x="57912" y="0"/>
                    <a:pt x="129413" y="0"/>
                  </a:cubicBezTo>
                  <a:lnTo>
                    <a:pt x="915924" y="0"/>
                  </a:lnTo>
                  <a:cubicBezTo>
                    <a:pt x="987425" y="0"/>
                    <a:pt x="1045337" y="55753"/>
                    <a:pt x="1045337" y="124587"/>
                  </a:cubicBezTo>
                  <a:cubicBezTo>
                    <a:pt x="1045337" y="193421"/>
                    <a:pt x="987425" y="249174"/>
                    <a:pt x="915924" y="249174"/>
                  </a:cubicBezTo>
                  <a:lnTo>
                    <a:pt x="129413" y="249174"/>
                  </a:lnTo>
                  <a:cubicBezTo>
                    <a:pt x="57912" y="249301"/>
                    <a:pt x="0" y="193421"/>
                    <a:pt x="0" y="124587"/>
                  </a:cubicBezTo>
                  <a:close/>
                </a:path>
              </a:pathLst>
            </a:custGeom>
            <a:solidFill>
              <a:srgbClr val="FFFFFF">
                <a:alpha val="3922"/>
              </a:srgbClr>
            </a:solidFill>
          </p:spPr>
        </p:sp>
        <p:sp>
          <p:nvSpPr>
            <p:cNvPr name="Freeform 21" id="21"/>
            <p:cNvSpPr/>
            <p:nvPr/>
          </p:nvSpPr>
          <p:spPr>
            <a:xfrm flipH="false" flipV="false" rot="0">
              <a:off x="0" y="0"/>
              <a:ext cx="1058037" cy="261874"/>
            </a:xfrm>
            <a:custGeom>
              <a:avLst/>
              <a:gdLst/>
              <a:ahLst/>
              <a:cxnLst/>
              <a:rect r="r" b="b" t="t" l="l"/>
              <a:pathLst>
                <a:path h="261874" w="1058037">
                  <a:moveTo>
                    <a:pt x="0" y="130937"/>
                  </a:moveTo>
                  <a:cubicBezTo>
                    <a:pt x="0" y="58420"/>
                    <a:pt x="60960" y="0"/>
                    <a:pt x="135763" y="0"/>
                  </a:cubicBezTo>
                  <a:lnTo>
                    <a:pt x="922274" y="0"/>
                  </a:lnTo>
                  <a:lnTo>
                    <a:pt x="922274" y="6350"/>
                  </a:lnTo>
                  <a:lnTo>
                    <a:pt x="922274" y="0"/>
                  </a:lnTo>
                  <a:cubicBezTo>
                    <a:pt x="997077" y="0"/>
                    <a:pt x="1058037" y="58420"/>
                    <a:pt x="1058037" y="130937"/>
                  </a:cubicBezTo>
                  <a:lnTo>
                    <a:pt x="1051687" y="130937"/>
                  </a:lnTo>
                  <a:lnTo>
                    <a:pt x="1058037" y="130937"/>
                  </a:lnTo>
                  <a:lnTo>
                    <a:pt x="1051687" y="130937"/>
                  </a:lnTo>
                  <a:lnTo>
                    <a:pt x="1058037" y="130937"/>
                  </a:lnTo>
                  <a:cubicBezTo>
                    <a:pt x="1058037" y="203454"/>
                    <a:pt x="997077" y="261874"/>
                    <a:pt x="922274" y="261874"/>
                  </a:cubicBezTo>
                  <a:lnTo>
                    <a:pt x="922274" y="255524"/>
                  </a:lnTo>
                  <a:lnTo>
                    <a:pt x="922274" y="261874"/>
                  </a:lnTo>
                  <a:lnTo>
                    <a:pt x="135763" y="261874"/>
                  </a:lnTo>
                  <a:lnTo>
                    <a:pt x="135763" y="255524"/>
                  </a:lnTo>
                  <a:lnTo>
                    <a:pt x="135763" y="261874"/>
                  </a:lnTo>
                  <a:cubicBezTo>
                    <a:pt x="60960" y="262001"/>
                    <a:pt x="0" y="203581"/>
                    <a:pt x="0" y="130937"/>
                  </a:cubicBezTo>
                  <a:cubicBezTo>
                    <a:pt x="0" y="127381"/>
                    <a:pt x="2794" y="124587"/>
                    <a:pt x="6350" y="124587"/>
                  </a:cubicBezTo>
                  <a:lnTo>
                    <a:pt x="6350" y="130937"/>
                  </a:lnTo>
                  <a:lnTo>
                    <a:pt x="0" y="130937"/>
                  </a:lnTo>
                  <a:moveTo>
                    <a:pt x="12700" y="130937"/>
                  </a:moveTo>
                  <a:cubicBezTo>
                    <a:pt x="12700" y="134493"/>
                    <a:pt x="9906" y="137287"/>
                    <a:pt x="6350" y="137287"/>
                  </a:cubicBezTo>
                  <a:lnTo>
                    <a:pt x="6350" y="130937"/>
                  </a:lnTo>
                  <a:lnTo>
                    <a:pt x="12700" y="130937"/>
                  </a:lnTo>
                  <a:cubicBezTo>
                    <a:pt x="12700" y="196088"/>
                    <a:pt x="67564" y="249174"/>
                    <a:pt x="135763" y="249174"/>
                  </a:cubicBezTo>
                  <a:lnTo>
                    <a:pt x="922274" y="249174"/>
                  </a:lnTo>
                  <a:cubicBezTo>
                    <a:pt x="990473" y="249174"/>
                    <a:pt x="1045337" y="195961"/>
                    <a:pt x="1045337" y="130937"/>
                  </a:cubicBezTo>
                  <a:cubicBezTo>
                    <a:pt x="1045337" y="65913"/>
                    <a:pt x="990473" y="12700"/>
                    <a:pt x="922274" y="12700"/>
                  </a:cubicBezTo>
                  <a:lnTo>
                    <a:pt x="135763" y="12700"/>
                  </a:lnTo>
                  <a:lnTo>
                    <a:pt x="135763" y="6350"/>
                  </a:lnTo>
                  <a:lnTo>
                    <a:pt x="135763" y="12700"/>
                  </a:lnTo>
                  <a:cubicBezTo>
                    <a:pt x="67564" y="12700"/>
                    <a:pt x="12700" y="65913"/>
                    <a:pt x="12700" y="130937"/>
                  </a:cubicBezTo>
                  <a:close/>
                </a:path>
              </a:pathLst>
            </a:custGeom>
            <a:solidFill>
              <a:srgbClr val="000000"/>
            </a:solidFill>
          </p:spPr>
        </p:sp>
      </p:grpSp>
      <p:grpSp>
        <p:nvGrpSpPr>
          <p:cNvPr name="Group 22" id="22"/>
          <p:cNvGrpSpPr/>
          <p:nvPr/>
        </p:nvGrpSpPr>
        <p:grpSpPr>
          <a:xfrm rot="0">
            <a:off x="11144841" y="3492703"/>
            <a:ext cx="102841" cy="102841"/>
            <a:chOff x="0" y="0"/>
            <a:chExt cx="137122" cy="137122"/>
          </a:xfrm>
        </p:grpSpPr>
        <p:sp>
          <p:nvSpPr>
            <p:cNvPr name="Freeform 23" id="23" descr="preencoded.png"/>
            <p:cNvSpPr/>
            <p:nvPr/>
          </p:nvSpPr>
          <p:spPr>
            <a:xfrm flipH="false" flipV="false" rot="0">
              <a:off x="0" y="0"/>
              <a:ext cx="137160" cy="137160"/>
            </a:xfrm>
            <a:custGeom>
              <a:avLst/>
              <a:gdLst/>
              <a:ahLst/>
              <a:cxnLst/>
              <a:rect r="r" b="b" t="t" l="l"/>
              <a:pathLst>
                <a:path h="137160" w="137160">
                  <a:moveTo>
                    <a:pt x="0" y="0"/>
                  </a:moveTo>
                  <a:lnTo>
                    <a:pt x="137160" y="0"/>
                  </a:lnTo>
                  <a:lnTo>
                    <a:pt x="137160" y="137160"/>
                  </a:lnTo>
                  <a:lnTo>
                    <a:pt x="0" y="137160"/>
                  </a:lnTo>
                  <a:lnTo>
                    <a:pt x="0" y="0"/>
                  </a:lnTo>
                  <a:close/>
                </a:path>
              </a:pathLst>
            </a:custGeom>
            <a:blipFill>
              <a:blip r:embed="rId6"/>
              <a:stretch>
                <a:fillRect l="0" t="0" r="27" b="27"/>
              </a:stretch>
            </a:blipFill>
          </p:spPr>
        </p:sp>
      </p:grpSp>
      <p:sp>
        <p:nvSpPr>
          <p:cNvPr name="TextBox 24" id="24"/>
          <p:cNvSpPr txBox="true"/>
          <p:nvPr/>
        </p:nvSpPr>
        <p:spPr>
          <a:xfrm rot="0">
            <a:off x="11310490" y="3448793"/>
            <a:ext cx="525218" cy="162220"/>
          </a:xfrm>
          <a:prstGeom prst="rect">
            <a:avLst/>
          </a:prstGeom>
        </p:spPr>
        <p:txBody>
          <a:bodyPr anchor="t" rtlCol="false" tIns="0" lIns="0" bIns="0" rIns="0">
            <a:spAutoFit/>
          </a:bodyPr>
          <a:lstStyle/>
          <a:p>
            <a:pPr algn="l">
              <a:lnSpc>
                <a:spcPts val="1000"/>
              </a:lnSpc>
            </a:pPr>
            <a:r>
              <a:rPr lang="en-US" sz="750">
                <a:solidFill>
                  <a:srgbClr val="695D46"/>
                </a:solidFill>
                <a:latin typeface="Arimo"/>
                <a:ea typeface="Arimo"/>
                <a:cs typeface="Arimo"/>
                <a:sym typeface="Arimo"/>
              </a:rPr>
              <a:t>B·44.44%</a:t>
            </a:r>
          </a:p>
        </p:txBody>
      </p:sp>
      <p:sp>
        <p:nvSpPr>
          <p:cNvPr name="TextBox 25" id="25"/>
          <p:cNvSpPr txBox="true"/>
          <p:nvPr/>
        </p:nvSpPr>
        <p:spPr>
          <a:xfrm rot="0">
            <a:off x="11377460" y="3448793"/>
            <a:ext cx="458238" cy="162220"/>
          </a:xfrm>
          <a:prstGeom prst="rect">
            <a:avLst/>
          </a:prstGeom>
        </p:spPr>
        <p:txBody>
          <a:bodyPr anchor="t" rtlCol="false" tIns="0" lIns="0" bIns="0" rIns="0">
            <a:spAutoFit/>
          </a:bodyPr>
          <a:lstStyle/>
          <a:p>
            <a:pPr algn="l">
              <a:lnSpc>
                <a:spcPts val="1000"/>
              </a:lnSpc>
            </a:pPr>
            <a:r>
              <a:rPr lang="en-US" sz="750">
                <a:solidFill>
                  <a:srgbClr val="695D46"/>
                </a:solidFill>
                <a:latin typeface="Arimo"/>
                <a:ea typeface="Arimo"/>
                <a:cs typeface="Arimo"/>
                <a:sym typeface="Arimo"/>
              </a:rPr>
              <a:t>·44.44%</a:t>
            </a:r>
          </a:p>
        </p:txBody>
      </p:sp>
      <p:sp>
        <p:nvSpPr>
          <p:cNvPr name="TextBox 26" id="26"/>
          <p:cNvSpPr txBox="true"/>
          <p:nvPr/>
        </p:nvSpPr>
        <p:spPr>
          <a:xfrm rot="0">
            <a:off x="11418541" y="3448793"/>
            <a:ext cx="27680" cy="162220"/>
          </a:xfrm>
          <a:prstGeom prst="rect">
            <a:avLst/>
          </a:prstGeom>
        </p:spPr>
        <p:txBody>
          <a:bodyPr anchor="t" rtlCol="false" tIns="0" lIns="0" bIns="0" rIns="0">
            <a:spAutoFit/>
          </a:bodyPr>
          <a:lstStyle/>
          <a:p>
            <a:pPr algn="l">
              <a:lnSpc>
                <a:spcPts val="1000"/>
              </a:lnSpc>
            </a:pPr>
            <a:r>
              <a:rPr lang="en-US" sz="750">
                <a:solidFill>
                  <a:srgbClr val="695D46"/>
                </a:solidFill>
                <a:latin typeface="Arimo"/>
                <a:ea typeface="Arimo"/>
                <a:cs typeface="Arimo"/>
                <a:sym typeface="Arimo"/>
              </a:rPr>
              <a:t>·</a:t>
            </a:r>
          </a:p>
        </p:txBody>
      </p:sp>
      <p:grpSp>
        <p:nvGrpSpPr>
          <p:cNvPr name="Group 27" id="27"/>
          <p:cNvGrpSpPr/>
          <p:nvPr/>
        </p:nvGrpSpPr>
        <p:grpSpPr>
          <a:xfrm rot="0">
            <a:off x="11079213" y="3709092"/>
            <a:ext cx="791613" cy="196453"/>
            <a:chOff x="0" y="0"/>
            <a:chExt cx="1055484" cy="261938"/>
          </a:xfrm>
        </p:grpSpPr>
        <p:sp>
          <p:nvSpPr>
            <p:cNvPr name="Freeform 28" id="28"/>
            <p:cNvSpPr/>
            <p:nvPr/>
          </p:nvSpPr>
          <p:spPr>
            <a:xfrm flipH="false" flipV="false" rot="0">
              <a:off x="6350" y="6350"/>
              <a:ext cx="1042797" cy="249174"/>
            </a:xfrm>
            <a:custGeom>
              <a:avLst/>
              <a:gdLst/>
              <a:ahLst/>
              <a:cxnLst/>
              <a:rect r="r" b="b" t="t" l="l"/>
              <a:pathLst>
                <a:path h="249174" w="1042797">
                  <a:moveTo>
                    <a:pt x="0" y="124587"/>
                  </a:moveTo>
                  <a:cubicBezTo>
                    <a:pt x="0" y="55753"/>
                    <a:pt x="57912" y="0"/>
                    <a:pt x="129413" y="0"/>
                  </a:cubicBezTo>
                  <a:lnTo>
                    <a:pt x="913384" y="0"/>
                  </a:lnTo>
                  <a:cubicBezTo>
                    <a:pt x="984885" y="0"/>
                    <a:pt x="1042797" y="55753"/>
                    <a:pt x="1042797" y="124587"/>
                  </a:cubicBezTo>
                  <a:cubicBezTo>
                    <a:pt x="1042797" y="193421"/>
                    <a:pt x="984885" y="249174"/>
                    <a:pt x="913384" y="249174"/>
                  </a:cubicBezTo>
                  <a:lnTo>
                    <a:pt x="129413" y="249174"/>
                  </a:lnTo>
                  <a:cubicBezTo>
                    <a:pt x="57912" y="249301"/>
                    <a:pt x="0" y="193421"/>
                    <a:pt x="0" y="124587"/>
                  </a:cubicBezTo>
                  <a:close/>
                </a:path>
              </a:pathLst>
            </a:custGeom>
            <a:solidFill>
              <a:srgbClr val="FFFFFF">
                <a:alpha val="3922"/>
              </a:srgbClr>
            </a:solidFill>
          </p:spPr>
        </p:sp>
        <p:sp>
          <p:nvSpPr>
            <p:cNvPr name="Freeform 29" id="29"/>
            <p:cNvSpPr/>
            <p:nvPr/>
          </p:nvSpPr>
          <p:spPr>
            <a:xfrm flipH="false" flipV="false" rot="0">
              <a:off x="0" y="0"/>
              <a:ext cx="1055497" cy="261874"/>
            </a:xfrm>
            <a:custGeom>
              <a:avLst/>
              <a:gdLst/>
              <a:ahLst/>
              <a:cxnLst/>
              <a:rect r="r" b="b" t="t" l="l"/>
              <a:pathLst>
                <a:path h="261874" w="1055497">
                  <a:moveTo>
                    <a:pt x="0" y="130937"/>
                  </a:moveTo>
                  <a:cubicBezTo>
                    <a:pt x="0" y="58420"/>
                    <a:pt x="60960" y="0"/>
                    <a:pt x="135763" y="0"/>
                  </a:cubicBezTo>
                  <a:lnTo>
                    <a:pt x="919734" y="0"/>
                  </a:lnTo>
                  <a:lnTo>
                    <a:pt x="919734" y="6350"/>
                  </a:lnTo>
                  <a:lnTo>
                    <a:pt x="919734" y="0"/>
                  </a:lnTo>
                  <a:cubicBezTo>
                    <a:pt x="994537" y="0"/>
                    <a:pt x="1055497" y="58420"/>
                    <a:pt x="1055497" y="130937"/>
                  </a:cubicBezTo>
                  <a:lnTo>
                    <a:pt x="1049147" y="130937"/>
                  </a:lnTo>
                  <a:lnTo>
                    <a:pt x="1055497" y="130937"/>
                  </a:lnTo>
                  <a:lnTo>
                    <a:pt x="1049147" y="130937"/>
                  </a:lnTo>
                  <a:lnTo>
                    <a:pt x="1055497" y="130937"/>
                  </a:lnTo>
                  <a:cubicBezTo>
                    <a:pt x="1055497" y="203454"/>
                    <a:pt x="994537" y="261874"/>
                    <a:pt x="919734" y="261874"/>
                  </a:cubicBezTo>
                  <a:lnTo>
                    <a:pt x="919734" y="255524"/>
                  </a:lnTo>
                  <a:lnTo>
                    <a:pt x="919734" y="261874"/>
                  </a:lnTo>
                  <a:lnTo>
                    <a:pt x="135763" y="261874"/>
                  </a:lnTo>
                  <a:lnTo>
                    <a:pt x="135763" y="255524"/>
                  </a:lnTo>
                  <a:lnTo>
                    <a:pt x="135763" y="261874"/>
                  </a:lnTo>
                  <a:cubicBezTo>
                    <a:pt x="60960" y="262001"/>
                    <a:pt x="0" y="203581"/>
                    <a:pt x="0" y="130937"/>
                  </a:cubicBezTo>
                  <a:cubicBezTo>
                    <a:pt x="0" y="127381"/>
                    <a:pt x="2794" y="124587"/>
                    <a:pt x="6350" y="124587"/>
                  </a:cubicBezTo>
                  <a:lnTo>
                    <a:pt x="6350" y="130937"/>
                  </a:lnTo>
                  <a:lnTo>
                    <a:pt x="0" y="130937"/>
                  </a:lnTo>
                  <a:moveTo>
                    <a:pt x="12700" y="130937"/>
                  </a:moveTo>
                  <a:cubicBezTo>
                    <a:pt x="12700" y="134493"/>
                    <a:pt x="9906" y="137287"/>
                    <a:pt x="6350" y="137287"/>
                  </a:cubicBezTo>
                  <a:lnTo>
                    <a:pt x="6350" y="130937"/>
                  </a:lnTo>
                  <a:lnTo>
                    <a:pt x="12700" y="130937"/>
                  </a:lnTo>
                  <a:cubicBezTo>
                    <a:pt x="12700" y="196088"/>
                    <a:pt x="67564" y="249174"/>
                    <a:pt x="135763" y="249174"/>
                  </a:cubicBezTo>
                  <a:lnTo>
                    <a:pt x="919734" y="249174"/>
                  </a:lnTo>
                  <a:cubicBezTo>
                    <a:pt x="987933" y="249174"/>
                    <a:pt x="1042797" y="195961"/>
                    <a:pt x="1042797" y="130937"/>
                  </a:cubicBezTo>
                  <a:cubicBezTo>
                    <a:pt x="1042797" y="65913"/>
                    <a:pt x="987933" y="12700"/>
                    <a:pt x="919734" y="12700"/>
                  </a:cubicBezTo>
                  <a:lnTo>
                    <a:pt x="135763" y="12700"/>
                  </a:lnTo>
                  <a:lnTo>
                    <a:pt x="135763" y="6350"/>
                  </a:lnTo>
                  <a:lnTo>
                    <a:pt x="135763" y="12700"/>
                  </a:lnTo>
                  <a:cubicBezTo>
                    <a:pt x="67564" y="12700"/>
                    <a:pt x="12700" y="65913"/>
                    <a:pt x="12700" y="130937"/>
                  </a:cubicBezTo>
                  <a:close/>
                </a:path>
              </a:pathLst>
            </a:custGeom>
            <a:solidFill>
              <a:srgbClr val="000000"/>
            </a:solidFill>
          </p:spPr>
        </p:sp>
      </p:grpSp>
      <p:grpSp>
        <p:nvGrpSpPr>
          <p:cNvPr name="Group 30" id="30"/>
          <p:cNvGrpSpPr/>
          <p:nvPr/>
        </p:nvGrpSpPr>
        <p:grpSpPr>
          <a:xfrm rot="0">
            <a:off x="11144841" y="3755822"/>
            <a:ext cx="102841" cy="102841"/>
            <a:chOff x="0" y="0"/>
            <a:chExt cx="137122" cy="137122"/>
          </a:xfrm>
        </p:grpSpPr>
        <p:sp>
          <p:nvSpPr>
            <p:cNvPr name="Freeform 31" id="31" descr="preencoded.png"/>
            <p:cNvSpPr/>
            <p:nvPr/>
          </p:nvSpPr>
          <p:spPr>
            <a:xfrm flipH="false" flipV="false" rot="0">
              <a:off x="0" y="0"/>
              <a:ext cx="137160" cy="137160"/>
            </a:xfrm>
            <a:custGeom>
              <a:avLst/>
              <a:gdLst/>
              <a:ahLst/>
              <a:cxnLst/>
              <a:rect r="r" b="b" t="t" l="l"/>
              <a:pathLst>
                <a:path h="137160" w="137160">
                  <a:moveTo>
                    <a:pt x="0" y="0"/>
                  </a:moveTo>
                  <a:lnTo>
                    <a:pt x="137160" y="0"/>
                  </a:lnTo>
                  <a:lnTo>
                    <a:pt x="137160" y="137160"/>
                  </a:lnTo>
                  <a:lnTo>
                    <a:pt x="0" y="137160"/>
                  </a:lnTo>
                  <a:lnTo>
                    <a:pt x="0" y="0"/>
                  </a:lnTo>
                  <a:close/>
                </a:path>
              </a:pathLst>
            </a:custGeom>
            <a:blipFill>
              <a:blip r:embed="rId7"/>
              <a:stretch>
                <a:fillRect l="0" t="0" r="27" b="27"/>
              </a:stretch>
            </a:blipFill>
          </p:spPr>
        </p:sp>
      </p:grpSp>
      <p:sp>
        <p:nvSpPr>
          <p:cNvPr name="TextBox 32" id="32"/>
          <p:cNvSpPr txBox="true"/>
          <p:nvPr/>
        </p:nvSpPr>
        <p:spPr>
          <a:xfrm rot="0">
            <a:off x="11310490" y="3711921"/>
            <a:ext cx="523284" cy="162220"/>
          </a:xfrm>
          <a:prstGeom prst="rect">
            <a:avLst/>
          </a:prstGeom>
        </p:spPr>
        <p:txBody>
          <a:bodyPr anchor="t" rtlCol="false" tIns="0" lIns="0" bIns="0" rIns="0">
            <a:spAutoFit/>
          </a:bodyPr>
          <a:lstStyle/>
          <a:p>
            <a:pPr algn="l">
              <a:lnSpc>
                <a:spcPts val="1000"/>
              </a:lnSpc>
            </a:pPr>
            <a:r>
              <a:rPr lang="en-US" sz="750">
                <a:solidFill>
                  <a:srgbClr val="695D46"/>
                </a:solidFill>
                <a:latin typeface="Arimo"/>
                <a:ea typeface="Arimo"/>
                <a:cs typeface="Arimo"/>
                <a:sym typeface="Arimo"/>
              </a:rPr>
              <a:t>C·17.78%</a:t>
            </a:r>
          </a:p>
        </p:txBody>
      </p:sp>
      <p:sp>
        <p:nvSpPr>
          <p:cNvPr name="TextBox 33" id="33"/>
          <p:cNvSpPr txBox="true"/>
          <p:nvPr/>
        </p:nvSpPr>
        <p:spPr>
          <a:xfrm rot="0">
            <a:off x="11375527" y="3711921"/>
            <a:ext cx="458238" cy="162220"/>
          </a:xfrm>
          <a:prstGeom prst="rect">
            <a:avLst/>
          </a:prstGeom>
        </p:spPr>
        <p:txBody>
          <a:bodyPr anchor="t" rtlCol="false" tIns="0" lIns="0" bIns="0" rIns="0">
            <a:spAutoFit/>
          </a:bodyPr>
          <a:lstStyle/>
          <a:p>
            <a:pPr algn="l">
              <a:lnSpc>
                <a:spcPts val="1000"/>
              </a:lnSpc>
            </a:pPr>
            <a:r>
              <a:rPr lang="en-US" sz="750">
                <a:solidFill>
                  <a:srgbClr val="695D46"/>
                </a:solidFill>
                <a:latin typeface="Arimo"/>
                <a:ea typeface="Arimo"/>
                <a:cs typeface="Arimo"/>
                <a:sym typeface="Arimo"/>
              </a:rPr>
              <a:t>·17.78%</a:t>
            </a:r>
          </a:p>
        </p:txBody>
      </p:sp>
      <p:sp>
        <p:nvSpPr>
          <p:cNvPr name="TextBox 34" id="34"/>
          <p:cNvSpPr txBox="true"/>
          <p:nvPr/>
        </p:nvSpPr>
        <p:spPr>
          <a:xfrm rot="0">
            <a:off x="11416608" y="3711921"/>
            <a:ext cx="27680" cy="162220"/>
          </a:xfrm>
          <a:prstGeom prst="rect">
            <a:avLst/>
          </a:prstGeom>
        </p:spPr>
        <p:txBody>
          <a:bodyPr anchor="t" rtlCol="false" tIns="0" lIns="0" bIns="0" rIns="0">
            <a:spAutoFit/>
          </a:bodyPr>
          <a:lstStyle/>
          <a:p>
            <a:pPr algn="l">
              <a:lnSpc>
                <a:spcPts val="1000"/>
              </a:lnSpc>
            </a:pPr>
            <a:r>
              <a:rPr lang="en-US" sz="750">
                <a:solidFill>
                  <a:srgbClr val="695D46"/>
                </a:solidFill>
                <a:latin typeface="Arimo"/>
                <a:ea typeface="Arimo"/>
                <a:cs typeface="Arimo"/>
                <a:sym typeface="Arimo"/>
              </a:rPr>
              <a:t>·</a:t>
            </a:r>
          </a:p>
        </p:txBody>
      </p:sp>
      <p:grpSp>
        <p:nvGrpSpPr>
          <p:cNvPr name="Group 35" id="35"/>
          <p:cNvGrpSpPr/>
          <p:nvPr/>
        </p:nvGrpSpPr>
        <p:grpSpPr>
          <a:xfrm rot="0">
            <a:off x="11079213" y="3972220"/>
            <a:ext cx="780012" cy="196453"/>
            <a:chOff x="0" y="0"/>
            <a:chExt cx="1040016" cy="261938"/>
          </a:xfrm>
        </p:grpSpPr>
        <p:sp>
          <p:nvSpPr>
            <p:cNvPr name="Freeform 36" id="36"/>
            <p:cNvSpPr/>
            <p:nvPr/>
          </p:nvSpPr>
          <p:spPr>
            <a:xfrm flipH="false" flipV="false" rot="0">
              <a:off x="6350" y="6350"/>
              <a:ext cx="1027303" cy="249174"/>
            </a:xfrm>
            <a:custGeom>
              <a:avLst/>
              <a:gdLst/>
              <a:ahLst/>
              <a:cxnLst/>
              <a:rect r="r" b="b" t="t" l="l"/>
              <a:pathLst>
                <a:path h="249174" w="1027303">
                  <a:moveTo>
                    <a:pt x="0" y="124587"/>
                  </a:moveTo>
                  <a:cubicBezTo>
                    <a:pt x="0" y="55753"/>
                    <a:pt x="57912" y="0"/>
                    <a:pt x="129413" y="0"/>
                  </a:cubicBezTo>
                  <a:lnTo>
                    <a:pt x="897890" y="0"/>
                  </a:lnTo>
                  <a:cubicBezTo>
                    <a:pt x="969391" y="0"/>
                    <a:pt x="1027303" y="55753"/>
                    <a:pt x="1027303" y="124587"/>
                  </a:cubicBezTo>
                  <a:cubicBezTo>
                    <a:pt x="1027303" y="193421"/>
                    <a:pt x="969391" y="249174"/>
                    <a:pt x="897890" y="249174"/>
                  </a:cubicBezTo>
                  <a:lnTo>
                    <a:pt x="129413" y="249174"/>
                  </a:lnTo>
                  <a:cubicBezTo>
                    <a:pt x="57912" y="249301"/>
                    <a:pt x="0" y="193421"/>
                    <a:pt x="0" y="124587"/>
                  </a:cubicBezTo>
                  <a:close/>
                </a:path>
              </a:pathLst>
            </a:custGeom>
            <a:solidFill>
              <a:srgbClr val="FFFFFF">
                <a:alpha val="3922"/>
              </a:srgbClr>
            </a:solidFill>
          </p:spPr>
        </p:sp>
        <p:sp>
          <p:nvSpPr>
            <p:cNvPr name="Freeform 37" id="37"/>
            <p:cNvSpPr/>
            <p:nvPr/>
          </p:nvSpPr>
          <p:spPr>
            <a:xfrm flipH="false" flipV="false" rot="0">
              <a:off x="0" y="0"/>
              <a:ext cx="1040003" cy="261874"/>
            </a:xfrm>
            <a:custGeom>
              <a:avLst/>
              <a:gdLst/>
              <a:ahLst/>
              <a:cxnLst/>
              <a:rect r="r" b="b" t="t" l="l"/>
              <a:pathLst>
                <a:path h="261874" w="1040003">
                  <a:moveTo>
                    <a:pt x="0" y="130937"/>
                  </a:moveTo>
                  <a:cubicBezTo>
                    <a:pt x="0" y="58420"/>
                    <a:pt x="60960" y="0"/>
                    <a:pt x="135763" y="0"/>
                  </a:cubicBezTo>
                  <a:lnTo>
                    <a:pt x="904240" y="0"/>
                  </a:lnTo>
                  <a:lnTo>
                    <a:pt x="904240" y="6350"/>
                  </a:lnTo>
                  <a:lnTo>
                    <a:pt x="904240" y="0"/>
                  </a:lnTo>
                  <a:cubicBezTo>
                    <a:pt x="978916" y="0"/>
                    <a:pt x="1040003" y="58420"/>
                    <a:pt x="1040003" y="130937"/>
                  </a:cubicBezTo>
                  <a:lnTo>
                    <a:pt x="1033653" y="130937"/>
                  </a:lnTo>
                  <a:lnTo>
                    <a:pt x="1040003" y="130937"/>
                  </a:lnTo>
                  <a:lnTo>
                    <a:pt x="1033653" y="130937"/>
                  </a:lnTo>
                  <a:lnTo>
                    <a:pt x="1040003" y="130937"/>
                  </a:lnTo>
                  <a:cubicBezTo>
                    <a:pt x="1040003" y="203454"/>
                    <a:pt x="979043" y="261874"/>
                    <a:pt x="904240" y="261874"/>
                  </a:cubicBezTo>
                  <a:lnTo>
                    <a:pt x="904240" y="255524"/>
                  </a:lnTo>
                  <a:lnTo>
                    <a:pt x="904240" y="261874"/>
                  </a:lnTo>
                  <a:lnTo>
                    <a:pt x="135763" y="261874"/>
                  </a:lnTo>
                  <a:lnTo>
                    <a:pt x="135763" y="255524"/>
                  </a:lnTo>
                  <a:lnTo>
                    <a:pt x="135763" y="261874"/>
                  </a:lnTo>
                  <a:cubicBezTo>
                    <a:pt x="60960" y="262001"/>
                    <a:pt x="0" y="203581"/>
                    <a:pt x="0" y="130937"/>
                  </a:cubicBezTo>
                  <a:cubicBezTo>
                    <a:pt x="0" y="127381"/>
                    <a:pt x="2794" y="124587"/>
                    <a:pt x="6350" y="124587"/>
                  </a:cubicBezTo>
                  <a:lnTo>
                    <a:pt x="6350" y="130937"/>
                  </a:lnTo>
                  <a:lnTo>
                    <a:pt x="0" y="130937"/>
                  </a:lnTo>
                  <a:moveTo>
                    <a:pt x="12700" y="130937"/>
                  </a:moveTo>
                  <a:cubicBezTo>
                    <a:pt x="12700" y="134493"/>
                    <a:pt x="9906" y="137287"/>
                    <a:pt x="6350" y="137287"/>
                  </a:cubicBezTo>
                  <a:lnTo>
                    <a:pt x="6350" y="130937"/>
                  </a:lnTo>
                  <a:lnTo>
                    <a:pt x="12700" y="130937"/>
                  </a:lnTo>
                  <a:cubicBezTo>
                    <a:pt x="12700" y="196088"/>
                    <a:pt x="67564" y="249174"/>
                    <a:pt x="135763" y="249174"/>
                  </a:cubicBezTo>
                  <a:lnTo>
                    <a:pt x="904240" y="249174"/>
                  </a:lnTo>
                  <a:cubicBezTo>
                    <a:pt x="972439" y="249174"/>
                    <a:pt x="1027303" y="195961"/>
                    <a:pt x="1027303" y="130937"/>
                  </a:cubicBezTo>
                  <a:cubicBezTo>
                    <a:pt x="1027303" y="65913"/>
                    <a:pt x="972439" y="12700"/>
                    <a:pt x="904240" y="12700"/>
                  </a:cubicBezTo>
                  <a:lnTo>
                    <a:pt x="135763" y="12700"/>
                  </a:lnTo>
                  <a:lnTo>
                    <a:pt x="135763" y="6350"/>
                  </a:lnTo>
                  <a:lnTo>
                    <a:pt x="135763" y="12700"/>
                  </a:lnTo>
                  <a:cubicBezTo>
                    <a:pt x="67564" y="12700"/>
                    <a:pt x="12700" y="65913"/>
                    <a:pt x="12700" y="130937"/>
                  </a:cubicBezTo>
                  <a:close/>
                </a:path>
              </a:pathLst>
            </a:custGeom>
            <a:solidFill>
              <a:srgbClr val="000000"/>
            </a:solidFill>
          </p:spPr>
        </p:sp>
      </p:grpSp>
      <p:grpSp>
        <p:nvGrpSpPr>
          <p:cNvPr name="Group 38" id="38"/>
          <p:cNvGrpSpPr/>
          <p:nvPr/>
        </p:nvGrpSpPr>
        <p:grpSpPr>
          <a:xfrm rot="0">
            <a:off x="11144841" y="4018959"/>
            <a:ext cx="102841" cy="102841"/>
            <a:chOff x="0" y="0"/>
            <a:chExt cx="137122" cy="137122"/>
          </a:xfrm>
        </p:grpSpPr>
        <p:sp>
          <p:nvSpPr>
            <p:cNvPr name="Freeform 39" id="39" descr="preencoded.png"/>
            <p:cNvSpPr/>
            <p:nvPr/>
          </p:nvSpPr>
          <p:spPr>
            <a:xfrm flipH="false" flipV="false" rot="0">
              <a:off x="0" y="0"/>
              <a:ext cx="137160" cy="137160"/>
            </a:xfrm>
            <a:custGeom>
              <a:avLst/>
              <a:gdLst/>
              <a:ahLst/>
              <a:cxnLst/>
              <a:rect r="r" b="b" t="t" l="l"/>
              <a:pathLst>
                <a:path h="137160" w="137160">
                  <a:moveTo>
                    <a:pt x="0" y="0"/>
                  </a:moveTo>
                  <a:lnTo>
                    <a:pt x="137160" y="0"/>
                  </a:lnTo>
                  <a:lnTo>
                    <a:pt x="137160" y="137160"/>
                  </a:lnTo>
                  <a:lnTo>
                    <a:pt x="0" y="137160"/>
                  </a:lnTo>
                  <a:lnTo>
                    <a:pt x="0" y="0"/>
                  </a:lnTo>
                  <a:close/>
                </a:path>
              </a:pathLst>
            </a:custGeom>
            <a:blipFill>
              <a:blip r:embed="rId8"/>
              <a:stretch>
                <a:fillRect l="0" t="0" r="27" b="27"/>
              </a:stretch>
            </a:blipFill>
          </p:spPr>
        </p:sp>
      </p:grpSp>
      <p:sp>
        <p:nvSpPr>
          <p:cNvPr name="TextBox 40" id="40"/>
          <p:cNvSpPr txBox="true"/>
          <p:nvPr/>
        </p:nvSpPr>
        <p:spPr>
          <a:xfrm rot="0">
            <a:off x="11310490" y="3975049"/>
            <a:ext cx="511673" cy="162220"/>
          </a:xfrm>
          <a:prstGeom prst="rect">
            <a:avLst/>
          </a:prstGeom>
        </p:spPr>
        <p:txBody>
          <a:bodyPr anchor="t" rtlCol="false" tIns="0" lIns="0" bIns="0" rIns="0">
            <a:spAutoFit/>
          </a:bodyPr>
          <a:lstStyle/>
          <a:p>
            <a:pPr algn="l">
              <a:lnSpc>
                <a:spcPts val="1000"/>
              </a:lnSpc>
            </a:pPr>
            <a:r>
              <a:rPr lang="en-US" sz="750">
                <a:solidFill>
                  <a:srgbClr val="695D46"/>
                </a:solidFill>
                <a:latin typeface="Arimo"/>
                <a:ea typeface="Arimo"/>
                <a:cs typeface="Arimo"/>
                <a:sym typeface="Arimo"/>
              </a:rPr>
              <a:t>F·11.11%</a:t>
            </a:r>
          </a:p>
        </p:txBody>
      </p:sp>
      <p:sp>
        <p:nvSpPr>
          <p:cNvPr name="TextBox 41" id="41"/>
          <p:cNvSpPr txBox="true"/>
          <p:nvPr/>
        </p:nvSpPr>
        <p:spPr>
          <a:xfrm rot="0">
            <a:off x="11363916" y="3975049"/>
            <a:ext cx="458238" cy="162220"/>
          </a:xfrm>
          <a:prstGeom prst="rect">
            <a:avLst/>
          </a:prstGeom>
        </p:spPr>
        <p:txBody>
          <a:bodyPr anchor="t" rtlCol="false" tIns="0" lIns="0" bIns="0" rIns="0">
            <a:spAutoFit/>
          </a:bodyPr>
          <a:lstStyle/>
          <a:p>
            <a:pPr algn="l">
              <a:lnSpc>
                <a:spcPts val="1000"/>
              </a:lnSpc>
            </a:pPr>
            <a:r>
              <a:rPr lang="en-US" sz="750">
                <a:solidFill>
                  <a:srgbClr val="695D46"/>
                </a:solidFill>
                <a:latin typeface="Arimo"/>
                <a:ea typeface="Arimo"/>
                <a:cs typeface="Arimo"/>
                <a:sym typeface="Arimo"/>
              </a:rPr>
              <a:t>·11.11%</a:t>
            </a:r>
          </a:p>
        </p:txBody>
      </p:sp>
      <p:sp>
        <p:nvSpPr>
          <p:cNvPr name="TextBox 42" id="42"/>
          <p:cNvSpPr txBox="true"/>
          <p:nvPr/>
        </p:nvSpPr>
        <p:spPr>
          <a:xfrm rot="0">
            <a:off x="11404997" y="3975049"/>
            <a:ext cx="27680" cy="162220"/>
          </a:xfrm>
          <a:prstGeom prst="rect">
            <a:avLst/>
          </a:prstGeom>
        </p:spPr>
        <p:txBody>
          <a:bodyPr anchor="t" rtlCol="false" tIns="0" lIns="0" bIns="0" rIns="0">
            <a:spAutoFit/>
          </a:bodyPr>
          <a:lstStyle/>
          <a:p>
            <a:pPr algn="l">
              <a:lnSpc>
                <a:spcPts val="1000"/>
              </a:lnSpc>
            </a:pPr>
            <a:r>
              <a:rPr lang="en-US" sz="750">
                <a:solidFill>
                  <a:srgbClr val="695D46"/>
                </a:solidFill>
                <a:latin typeface="Arimo"/>
                <a:ea typeface="Arimo"/>
                <a:cs typeface="Arimo"/>
                <a:sym typeface="Arimo"/>
              </a:rPr>
              <a:t>·</a:t>
            </a:r>
          </a:p>
        </p:txBody>
      </p:sp>
      <p:sp>
        <p:nvSpPr>
          <p:cNvPr name="TextBox 43" id="43"/>
          <p:cNvSpPr txBox="true"/>
          <p:nvPr/>
        </p:nvSpPr>
        <p:spPr>
          <a:xfrm rot="0">
            <a:off x="12928397" y="2094909"/>
            <a:ext cx="4376890" cy="4168378"/>
          </a:xfrm>
          <a:prstGeom prst="rect">
            <a:avLst/>
          </a:prstGeom>
        </p:spPr>
        <p:txBody>
          <a:bodyPr anchor="t" rtlCol="false" tIns="0" lIns="0" bIns="0" rIns="0">
            <a:spAutoFit/>
          </a:bodyPr>
          <a:lstStyle/>
          <a:p>
            <a:pPr algn="l">
              <a:lnSpc>
                <a:spcPts val="3562"/>
              </a:lnSpc>
            </a:pPr>
            <a:r>
              <a:rPr lang="en-US" sz="2187">
                <a:solidFill>
                  <a:srgbClr val="695D46"/>
                </a:solidFill>
                <a:latin typeface="Open Sans"/>
                <a:ea typeface="Open Sans"/>
                <a:cs typeface="Open Sans"/>
                <a:sym typeface="Open Sans"/>
              </a:rPr>
              <a:t>Results: The program generates individual Performance Reports and a Class Analytics Dashboard (grade distribution, averages, highest/lowest). Tests show correct grade assignment and stable CSV persistence under concurrent edits (manual sequential testing).</a:t>
            </a:r>
          </a:p>
        </p:txBody>
      </p:sp>
      <p:sp>
        <p:nvSpPr>
          <p:cNvPr name="TextBox 44" id="44"/>
          <p:cNvSpPr txBox="true"/>
          <p:nvPr/>
        </p:nvSpPr>
        <p:spPr>
          <a:xfrm rot="0">
            <a:off x="12928397" y="6432652"/>
            <a:ext cx="4376890" cy="2807494"/>
          </a:xfrm>
          <a:prstGeom prst="rect">
            <a:avLst/>
          </a:prstGeom>
        </p:spPr>
        <p:txBody>
          <a:bodyPr anchor="t" rtlCol="false" tIns="0" lIns="0" bIns="0" rIns="0">
            <a:spAutoFit/>
          </a:bodyPr>
          <a:lstStyle/>
          <a:p>
            <a:pPr algn="l">
              <a:lnSpc>
                <a:spcPts val="3562"/>
              </a:lnSpc>
            </a:pPr>
            <a:r>
              <a:rPr lang="en-US" sz="2187">
                <a:solidFill>
                  <a:srgbClr val="695D46"/>
                </a:solidFill>
                <a:latin typeface="Open Sans"/>
                <a:ea typeface="Open Sans"/>
                <a:cs typeface="Open Sans"/>
                <a:sym typeface="Open Sans"/>
              </a:rPr>
              <a:t>Conclusion: Modular C programming with careful memory and file management is sufficient to manage course-scale datasets reliably and produce actionable analytics.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6E6E6"/>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grpSp>
        <p:nvGrpSpPr>
          <p:cNvPr name="Group 6" id="6"/>
          <p:cNvGrpSpPr/>
          <p:nvPr/>
        </p:nvGrpSpPr>
        <p:grpSpPr>
          <a:xfrm rot="0">
            <a:off x="16049015" y="9686925"/>
            <a:ext cx="2153260" cy="514350"/>
            <a:chOff x="0" y="0"/>
            <a:chExt cx="2871013" cy="685800"/>
          </a:xfrm>
        </p:grpSpPr>
        <p:sp>
          <p:nvSpPr>
            <p:cNvPr name="Freeform 7" id="7" descr="preencoded.png">
              <a:hlinkClick r:id="rId3"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4"/>
              <a:stretch>
                <a:fillRect l="0" t="0" r="-1" b="0"/>
              </a:stretch>
            </a:blipFill>
          </p:spPr>
        </p:sp>
      </p:grpSp>
      <p:grpSp>
        <p:nvGrpSpPr>
          <p:cNvPr name="Group 8" id="8"/>
          <p:cNvGrpSpPr/>
          <p:nvPr/>
        </p:nvGrpSpPr>
        <p:grpSpPr>
          <a:xfrm rot="0">
            <a:off x="11430000" y="0"/>
            <a:ext cx="6858000" cy="10287000"/>
            <a:chOff x="0" y="0"/>
            <a:chExt cx="9144000" cy="13716000"/>
          </a:xfrm>
        </p:grpSpPr>
        <p:sp>
          <p:nvSpPr>
            <p:cNvPr name="Freeform 9" id="9"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5"/>
              <a:stretch>
                <a:fillRect l="0" t="0" r="0" b="0"/>
              </a:stretch>
            </a:blipFill>
          </p:spPr>
        </p:sp>
      </p:grpSp>
      <p:sp>
        <p:nvSpPr>
          <p:cNvPr name="TextBox 10" id="10"/>
          <p:cNvSpPr txBox="true"/>
          <p:nvPr/>
        </p:nvSpPr>
        <p:spPr>
          <a:xfrm rot="0">
            <a:off x="992238" y="2938015"/>
            <a:ext cx="5670652" cy="727767"/>
          </a:xfrm>
          <a:prstGeom prst="rect">
            <a:avLst/>
          </a:prstGeom>
        </p:spPr>
        <p:txBody>
          <a:bodyPr anchor="t" rtlCol="false" tIns="0" lIns="0" bIns="0" rIns="0">
            <a:spAutoFit/>
          </a:bodyPr>
          <a:lstStyle/>
          <a:p>
            <a:pPr algn="l">
              <a:lnSpc>
                <a:spcPts val="5562"/>
              </a:lnSpc>
            </a:pPr>
            <a:r>
              <a:rPr lang="en-US" sz="4437" b="true">
                <a:solidFill>
                  <a:srgbClr val="EF6C00"/>
                </a:solidFill>
                <a:latin typeface="PT Sans Bold"/>
                <a:ea typeface="PT Sans Bold"/>
                <a:cs typeface="PT Sans Bold"/>
                <a:sym typeface="PT Sans Bold"/>
              </a:rPr>
              <a:t>References</a:t>
            </a:r>
          </a:p>
        </p:txBody>
      </p:sp>
      <p:sp>
        <p:nvSpPr>
          <p:cNvPr name="TextBox 11" id="11"/>
          <p:cNvSpPr txBox="true"/>
          <p:nvPr/>
        </p:nvSpPr>
        <p:spPr>
          <a:xfrm rot="0">
            <a:off x="992238" y="4005263"/>
            <a:ext cx="9445523" cy="2098472"/>
          </a:xfrm>
          <a:prstGeom prst="rect">
            <a:avLst/>
          </a:prstGeom>
        </p:spPr>
        <p:txBody>
          <a:bodyPr anchor="t" rtlCol="false" tIns="0" lIns="0" bIns="0" rIns="0">
            <a:spAutoFit/>
          </a:bodyPr>
          <a:lstStyle/>
          <a:p>
            <a:pPr algn="l" marL="329902" indent="-164951" lvl="1">
              <a:lnSpc>
                <a:spcPts val="3562"/>
              </a:lnSpc>
              <a:buFont typeface="Arial"/>
              <a:buChar char="•"/>
            </a:pPr>
            <a:r>
              <a:rPr lang="en-US" sz="2187">
                <a:solidFill>
                  <a:srgbClr val="695D46"/>
                </a:solidFill>
                <a:latin typeface="Open Sans"/>
                <a:ea typeface="Open Sans"/>
                <a:cs typeface="Open Sans"/>
                <a:sym typeface="Open Sans"/>
              </a:rPr>
              <a:t>Ref [1]: Foundations of Programming Course Material — MIT-WPU</a:t>
            </a:r>
          </a:p>
          <a:p>
            <a:pPr algn="l" marL="329902" indent="-164951" lvl="1">
              <a:lnSpc>
                <a:spcPts val="3562"/>
              </a:lnSpc>
              <a:buFont typeface="Arial"/>
              <a:buChar char="•"/>
            </a:pPr>
            <a:r>
              <a:rPr lang="en-US" sz="2187">
                <a:solidFill>
                  <a:srgbClr val="695D46"/>
                </a:solidFill>
                <a:latin typeface="Open Sans"/>
                <a:ea typeface="Open Sans"/>
                <a:cs typeface="Open Sans"/>
                <a:sym typeface="Open Sans"/>
              </a:rPr>
              <a:t>Ref [2]: K. N. King, C Programming: A Modern Approach</a:t>
            </a:r>
          </a:p>
          <a:p>
            <a:pPr algn="l" marL="329902" indent="-164951" lvl="1">
              <a:lnSpc>
                <a:spcPts val="3562"/>
              </a:lnSpc>
              <a:buFont typeface="Arial"/>
              <a:buChar char="•"/>
            </a:pPr>
            <a:r>
              <a:rPr lang="en-US" sz="2187">
                <a:solidFill>
                  <a:srgbClr val="695D46"/>
                </a:solidFill>
                <a:latin typeface="Open Sans"/>
                <a:ea typeface="Open Sans"/>
                <a:cs typeface="Open Sans"/>
                <a:sym typeface="Open Sans"/>
              </a:rPr>
              <a:t>ISO C Standard and GNU GCC Documentation — for file I/O and memory management best practices</a:t>
            </a:r>
          </a:p>
        </p:txBody>
      </p:sp>
      <p:sp>
        <p:nvSpPr>
          <p:cNvPr name="TextBox 12" id="12"/>
          <p:cNvSpPr txBox="true"/>
          <p:nvPr/>
        </p:nvSpPr>
        <p:spPr>
          <a:xfrm rot="0">
            <a:off x="992238" y="6336954"/>
            <a:ext cx="9445523" cy="992981"/>
          </a:xfrm>
          <a:prstGeom prst="rect">
            <a:avLst/>
          </a:prstGeom>
        </p:spPr>
        <p:txBody>
          <a:bodyPr anchor="t" rtlCol="false" tIns="0" lIns="0" bIns="0" rIns="0">
            <a:spAutoFit/>
          </a:bodyPr>
          <a:lstStyle/>
          <a:p>
            <a:pPr algn="l">
              <a:lnSpc>
                <a:spcPts val="3562"/>
              </a:lnSpc>
            </a:pPr>
            <a:r>
              <a:rPr lang="en-US" sz="2187">
                <a:solidFill>
                  <a:srgbClr val="695D46"/>
                </a:solidFill>
                <a:latin typeface="Open Sans"/>
                <a:ea typeface="Open Sans"/>
                <a:cs typeface="Open Sans"/>
                <a:sym typeface="Open Sans"/>
              </a:rPr>
              <a:t>Acknowledgments: Faculty guide and peer reviewers who validated test cases and file-handling edge cases.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DAHHrh0sSuI</dc:identifier>
  <dcterms:modified xsi:type="dcterms:W3CDTF">2011-08-01T06:04:30Z</dcterms:modified>
  <cp:revision>1</cp:revision>
  <dc:title>Result-Management-System (1).pptx</dc:title>
</cp:coreProperties>
</file>